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  <p:sldMasterId id="2147483663" r:id="rId6"/>
  </p:sldMasterIdLst>
  <p:notesMasterIdLst>
    <p:notesMasterId r:id="rId24"/>
  </p:notesMasterIdLst>
  <p:sldIdLst>
    <p:sldId id="356" r:id="rId7"/>
    <p:sldId id="376" r:id="rId8"/>
    <p:sldId id="257" r:id="rId9"/>
    <p:sldId id="259" r:id="rId10"/>
    <p:sldId id="260" r:id="rId11"/>
    <p:sldId id="258" r:id="rId12"/>
    <p:sldId id="261" r:id="rId13"/>
    <p:sldId id="262" r:id="rId14"/>
    <p:sldId id="269" r:id="rId15"/>
    <p:sldId id="263" r:id="rId16"/>
    <p:sldId id="264" r:id="rId17"/>
    <p:sldId id="265" r:id="rId18"/>
    <p:sldId id="266" r:id="rId19"/>
    <p:sldId id="267" r:id="rId20"/>
    <p:sldId id="271" r:id="rId21"/>
    <p:sldId id="268" r:id="rId22"/>
    <p:sldId id="270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919B2-FED7-6524-942D-8340A12D7FD6}" v="2" dt="2026-08-23T08:28:01.2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7" autoAdjust="0"/>
  </p:normalViewPr>
  <p:slideViewPr>
    <p:cSldViewPr snapToGrid="0">
      <p:cViewPr varScale="1">
        <p:scale>
          <a:sx n="75" d="100"/>
          <a:sy n="75" d="100"/>
        </p:scale>
        <p:origin x="67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Internações</c:v>
                </c:pt>
              </c:strCache>
            </c:strRef>
          </c:tx>
          <c:spPr>
            <a:solidFill>
              <a:srgbClr val="E91E63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180</c:v>
                </c:pt>
                <c:pt idx="1">
                  <c:v>165</c:v>
                </c:pt>
                <c:pt idx="2">
                  <c:v>210</c:v>
                </c:pt>
                <c:pt idx="3">
                  <c:v>195</c:v>
                </c:pt>
                <c:pt idx="4">
                  <c:v>240</c:v>
                </c:pt>
                <c:pt idx="5">
                  <c:v>265</c:v>
                </c:pt>
                <c:pt idx="6">
                  <c:v>285</c:v>
                </c:pt>
                <c:pt idx="7">
                  <c:v>260</c:v>
                </c:pt>
                <c:pt idx="8">
                  <c:v>225</c:v>
                </c:pt>
                <c:pt idx="9">
                  <c:v>205</c:v>
                </c:pt>
                <c:pt idx="10">
                  <c:v>235</c:v>
                </c:pt>
                <c:pt idx="11">
                  <c:v>290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3A-4313-B952-325DBDDE29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8B9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2121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8B9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2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Risco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91E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38B-4658-91D5-3E3D9AA987D8}"/>
              </c:ext>
            </c:extLst>
          </c:dPt>
          <c:dPt>
            <c:idx val="1"/>
            <c:bubble3D val="0"/>
            <c:spPr>
              <a:solidFill>
                <a:srgbClr val="F4A9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8B-4658-91D5-3E3D9AA987D8}"/>
              </c:ext>
            </c:extLst>
          </c:dPt>
          <c:dPt>
            <c:idx val="2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38B-4658-91D5-3E3D9AA987D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38B-4658-91D5-3E3D9AA987D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38B-4658-91D5-3E3D9AA987D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38B-4658-91D5-3E3D9AA987D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Vermelho</c:v>
                </c:pt>
                <c:pt idx="1">
                  <c:v>Amarelo</c:v>
                </c:pt>
                <c:pt idx="2">
                  <c:v>Verde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38</c:v>
                </c:pt>
                <c:pt idx="2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38B-4658-91D5-3E3D9AA98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D8D8D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1A2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67B37-5EC6-477B-A2AB-31FAA8746C81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FBD3B-76DC-4B7E-80D1-07DEFC9EE8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7344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C61C2-6BB8-F072-1DDC-A3E926805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27C5D-804C-661E-9CDF-C2D7156ED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7CC11-9450-2826-85B4-EDC6E7CFA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C551B-30C1-3776-1B16-8CDF51AFA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53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3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9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35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02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96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81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1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6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61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70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046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566B6FBC-3C5B-1FF2-8088-6E2EACD092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0" y="4730400"/>
            <a:ext cx="1641600" cy="16416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Roboto" panose="02000000000000000000" pitchFamily="2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0606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0744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40160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884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529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79894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362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77258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2080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4290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166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784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8400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590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17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2067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7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651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9.png"/><Relationship Id="rId10" Type="http://schemas.openxmlformats.org/officeDocument/2006/relationships/image" Target="../media/image32.png"/><Relationship Id="rId4" Type="http://schemas.openxmlformats.org/officeDocument/2006/relationships/image" Target="../media/image28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" descr="Padrão do plano de fund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3734" y="2660145"/>
            <a:ext cx="6724532" cy="768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5">
            <a:alphaModFix/>
          </a:blip>
          <a:srcRect l="20963" r="20963"/>
          <a:stretch/>
        </p:blipFill>
        <p:spPr>
          <a:xfrm>
            <a:off x="5585953" y="2009024"/>
            <a:ext cx="1020095" cy="305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1A24AF-1DB3-995B-7E46-72E41B5B8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866" y="3759113"/>
            <a:ext cx="3534268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5C0A1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2286000"/>
            <a:ext cx="2011680" cy="201168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3657600"/>
            <a:ext cx="4572000" cy="4572000"/>
          </a:xfrm>
          <a:prstGeom prst="ellipse">
            <a:avLst/>
          </a:prstGeom>
          <a:solidFill>
            <a:srgbClr val="5C0A1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5943600"/>
            <a:ext cx="1188720" cy="1188720"/>
          </a:xfrm>
          <a:prstGeom prst="ellipse">
            <a:avLst/>
          </a:prstGeom>
          <a:solidFill>
            <a:srgbClr val="5C0A1F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·  ORACLE × FIAP  · 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Radar 360</a:t>
            </a:r>
            <a:endParaRPr lang="en-US" sz="7600" dirty="0"/>
          </a:p>
        </p:txBody>
      </p:sp>
      <p:sp>
        <p:nvSpPr>
          <p:cNvPr id="8" name="Shape 6"/>
          <p:cNvSpPr/>
          <p:nvPr/>
        </p:nvSpPr>
        <p:spPr>
          <a:xfrm>
            <a:off x="1097280" y="3017520"/>
            <a:ext cx="1371600" cy="54864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00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inteligente de acesso hospitalar,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 social e risco epidemiológico.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4937760"/>
            <a:ext cx="3200400" cy="86868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5029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52852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26280" y="4937760"/>
            <a:ext cx="3200400" cy="86868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5029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52852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1TSCOA 2026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4937760"/>
            <a:ext cx="3200400" cy="86868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5029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38160" y="52852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Outubro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/ 2026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Sprint 1  ·  </a:t>
            </a:r>
            <a:r>
              <a:rPr lang="en-US" sz="1100" i="1" dirty="0" err="1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Ideação</a:t>
            </a:r>
            <a:r>
              <a:rPr lang="en-US" sz="1100" i="1" dirty="0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i="1" dirty="0" err="1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100" i="1" dirty="0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i="1" dirty="0" err="1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Arquitetura</a:t>
            </a:r>
            <a:r>
              <a:rPr lang="en-US" sz="1100" i="1" dirty="0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100" i="1" dirty="0" err="1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Solução</a:t>
            </a:r>
            <a:r>
              <a:rPr lang="en-US" sz="1100" i="1" dirty="0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09911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do grupo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1" name="Shape 9"/>
          <p:cNvSpPr/>
          <p:nvPr/>
        </p:nvSpPr>
        <p:spPr>
          <a:xfrm>
            <a:off x="833511" y="1600200"/>
            <a:ext cx="10515600" cy="109728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7452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03120" y="1691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GreatMinds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10312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FF4D8F"/>
                </a:solidFill>
                <a:latin typeface="Calibri"/>
                <a:ea typeface="Calibri"/>
                <a:cs typeface="Calibri"/>
              </a:rPr>
              <a:t>Turma</a:t>
            </a:r>
            <a:r>
              <a:rPr lang="en-US" sz="1200" i="1" dirty="0">
                <a:solidFill>
                  <a:srgbClr val="FF4D8F"/>
                </a:solidFill>
                <a:latin typeface="Calibri"/>
                <a:ea typeface="Calibri"/>
                <a:cs typeface="Calibri"/>
              </a:rPr>
              <a:t> 1TSCOA 2026  · Data Science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13816" y="2926080"/>
            <a:ext cx="2011680" cy="310896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3816" y="2926080"/>
            <a:ext cx="201168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7" name="Shape 14"/>
          <p:cNvSpPr/>
          <p:nvPr/>
        </p:nvSpPr>
        <p:spPr>
          <a:xfrm>
            <a:off x="1499616" y="3291840"/>
            <a:ext cx="640080" cy="640080"/>
          </a:xfrm>
          <a:prstGeom prst="ellipse">
            <a:avLst/>
          </a:prstGeom>
          <a:solidFill>
            <a:srgbClr val="1A1A24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99616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05256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572391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5256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Karen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1591056" y="4937760"/>
            <a:ext cx="45720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2" name="Text 19"/>
          <p:cNvSpPr/>
          <p:nvPr/>
        </p:nvSpPr>
        <p:spPr>
          <a:xfrm>
            <a:off x="905256" y="5074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Silva Costa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944368" y="2926080"/>
            <a:ext cx="2011680" cy="310896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44368" y="2926080"/>
            <a:ext cx="201168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5" name="Shape 22"/>
          <p:cNvSpPr/>
          <p:nvPr/>
        </p:nvSpPr>
        <p:spPr>
          <a:xfrm>
            <a:off x="3630168" y="3291840"/>
            <a:ext cx="640080" cy="640080"/>
          </a:xfrm>
          <a:prstGeom prst="ellipse">
            <a:avLst/>
          </a:prstGeom>
          <a:solidFill>
            <a:srgbClr val="1A1A24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30168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3035808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566969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035808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3721608" y="4937760"/>
            <a:ext cx="45720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0" name="Text 27"/>
          <p:cNvSpPr/>
          <p:nvPr/>
        </p:nvSpPr>
        <p:spPr>
          <a:xfrm>
            <a:off x="3035808" y="5074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Arcanjo dos Santos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074920" y="2926080"/>
            <a:ext cx="2011680" cy="310896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74920" y="2926080"/>
            <a:ext cx="201168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3" name="Shape 30"/>
          <p:cNvSpPr/>
          <p:nvPr/>
        </p:nvSpPr>
        <p:spPr>
          <a:xfrm>
            <a:off x="5760720" y="3291840"/>
            <a:ext cx="640080" cy="640080"/>
          </a:xfrm>
          <a:prstGeom prst="ellipse">
            <a:avLst/>
          </a:prstGeom>
          <a:solidFill>
            <a:srgbClr val="1A1A24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6072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516636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573396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166360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5852160" y="4937760"/>
            <a:ext cx="45720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8" name="Text 35"/>
          <p:cNvSpPr/>
          <p:nvPr/>
        </p:nvSpPr>
        <p:spPr>
          <a:xfrm>
            <a:off x="5166360" y="5074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Ruivo Talamonti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205472" y="2926080"/>
            <a:ext cx="2011680" cy="310896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205472" y="2926080"/>
            <a:ext cx="201168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1" name="Shape 38"/>
          <p:cNvSpPr/>
          <p:nvPr/>
        </p:nvSpPr>
        <p:spPr>
          <a:xfrm>
            <a:off x="7891272" y="3291840"/>
            <a:ext cx="640080" cy="640080"/>
          </a:xfrm>
          <a:prstGeom prst="ellipse">
            <a:avLst/>
          </a:prstGeom>
          <a:solidFill>
            <a:srgbClr val="1A1A24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91272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7296912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570059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296912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</a:t>
            </a:r>
            <a:endParaRPr lang="en-US" sz="1700" dirty="0"/>
          </a:p>
        </p:txBody>
      </p:sp>
      <p:sp>
        <p:nvSpPr>
          <p:cNvPr id="45" name="Shape 42"/>
          <p:cNvSpPr/>
          <p:nvPr/>
        </p:nvSpPr>
        <p:spPr>
          <a:xfrm>
            <a:off x="7982712" y="4937760"/>
            <a:ext cx="45720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6" name="Text 43"/>
          <p:cNvSpPr/>
          <p:nvPr/>
        </p:nvSpPr>
        <p:spPr>
          <a:xfrm>
            <a:off x="7296912" y="5074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Oliveira Silva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9336024" y="2926080"/>
            <a:ext cx="2011680" cy="310896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336024" y="2926080"/>
            <a:ext cx="201168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9" name="Shape 46"/>
          <p:cNvSpPr/>
          <p:nvPr/>
        </p:nvSpPr>
        <p:spPr>
          <a:xfrm>
            <a:off x="10021824" y="3291840"/>
            <a:ext cx="640080" cy="640080"/>
          </a:xfrm>
          <a:prstGeom prst="ellipse">
            <a:avLst/>
          </a:prstGeom>
          <a:solidFill>
            <a:srgbClr val="1A1A24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021824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51" name="Text 48"/>
          <p:cNvSpPr/>
          <p:nvPr/>
        </p:nvSpPr>
        <p:spPr>
          <a:xfrm>
            <a:off x="9427464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570573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9427464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10113264" y="4937760"/>
            <a:ext cx="45720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54" name="Text 51"/>
          <p:cNvSpPr/>
          <p:nvPr/>
        </p:nvSpPr>
        <p:spPr>
          <a:xfrm>
            <a:off x="9427464" y="5074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Coutinho Oliveira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1097280" y="65379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  ·  1TSCOA 2026  ·  Challenge Oracle + FIAP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do SUS no Brasil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entrega · Cenário em que o projeto se insere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600200"/>
            <a:ext cx="10515600" cy="228600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87452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965960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paradoxo dos dados públicos de saúde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965960" y="2286000"/>
            <a:ext cx="9509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O SUS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gera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grandes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volumes de dados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públicos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sobre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internações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hospitais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população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doenças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nascimentos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óbitos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Porém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essas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informações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estão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distribuídas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diferentes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bases e nem sempre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são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fáceis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interpretar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gestores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não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técnicos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.
</a:t>
            </a:r>
            <a:r>
              <a:rPr lang="en-US" sz="1100" b="1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Na </a:t>
            </a:r>
            <a:r>
              <a:rPr lang="en-US" sz="1100" b="1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prática</a:t>
            </a:r>
            <a:r>
              <a:rPr lang="en-US" sz="1100" b="1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decisões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sobre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leitos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, equipes,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campanhas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preventivas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investimentos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ainda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dependem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análises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manuais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consultas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técnicas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cruzamentos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complexos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entre bases.
</a:t>
            </a:r>
            <a:r>
              <a:rPr lang="en-US" sz="1100" b="1" dirty="0">
                <a:solidFill>
                  <a:srgbClr val="FF4D8F"/>
                </a:solidFill>
                <a:latin typeface="Calibri"/>
                <a:ea typeface="Calibri"/>
                <a:cs typeface="Calibri"/>
              </a:rPr>
              <a:t>A </a:t>
            </a:r>
            <a:r>
              <a:rPr lang="en-US" sz="1100" b="1" dirty="0" err="1">
                <a:solidFill>
                  <a:srgbClr val="FF4D8F"/>
                </a:solidFill>
                <a:latin typeface="Calibri"/>
                <a:ea typeface="Calibri"/>
                <a:cs typeface="Calibri"/>
              </a:rPr>
              <a:t>pressão</a:t>
            </a:r>
            <a:r>
              <a:rPr lang="en-US" sz="1100" b="1" dirty="0">
                <a:solidFill>
                  <a:srgbClr val="FF4D8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b="1" dirty="0" err="1">
                <a:solidFill>
                  <a:srgbClr val="FF4D8F"/>
                </a:solidFill>
                <a:latin typeface="Calibri"/>
                <a:ea typeface="Calibri"/>
                <a:cs typeface="Calibri"/>
              </a:rPr>
              <a:t>sobre</a:t>
            </a:r>
            <a:r>
              <a:rPr lang="en-US" sz="1100" b="1" dirty="0">
                <a:solidFill>
                  <a:srgbClr val="FF4D8F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1100" b="1" dirty="0" err="1">
                <a:solidFill>
                  <a:srgbClr val="FF4D8F"/>
                </a:solidFill>
                <a:latin typeface="Calibri"/>
                <a:ea typeface="Calibri"/>
                <a:cs typeface="Calibri"/>
              </a:rPr>
              <a:t>sistema</a:t>
            </a:r>
            <a:r>
              <a:rPr lang="en-US" sz="1100" b="1" dirty="0">
                <a:solidFill>
                  <a:srgbClr val="FF4D8F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100" b="1" dirty="0" err="1">
                <a:solidFill>
                  <a:srgbClr val="FF4D8F"/>
                </a:solidFill>
                <a:latin typeface="Calibri"/>
                <a:ea typeface="Calibri"/>
                <a:cs typeface="Calibri"/>
              </a:rPr>
              <a:t>saúde</a:t>
            </a:r>
            <a:r>
              <a:rPr lang="en-US" sz="1100" b="1" dirty="0">
                <a:solidFill>
                  <a:srgbClr val="FF4D8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não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depende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apenas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do volume de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internações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ela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também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está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relacionada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fatores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como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crescimento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populacional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envelhecimento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baixa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renda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falta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saneamento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aumento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doenças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baixa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oferta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estrutura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hospitalar</a:t>
            </a:r>
            <a:r>
              <a:rPr lang="en-US" sz="110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97280" y="4069080"/>
            <a:ext cx="10515600" cy="1234440"/>
          </a:xfrm>
          <a:prstGeom prst="rect">
            <a:avLst/>
          </a:prstGeom>
          <a:solidFill>
            <a:srgbClr val="1A1A24"/>
          </a:solidFill>
          <a:ln w="19050">
            <a:solidFill>
              <a:srgbClr val="E91E6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97280" y="4069080"/>
            <a:ext cx="73152" cy="123444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7" name="Text 14"/>
          <p:cNvSpPr/>
          <p:nvPr/>
        </p:nvSpPr>
        <p:spPr>
          <a:xfrm>
            <a:off x="132588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325880" y="4526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é transformar dados fragmentados do DATASUS em uma visão simples, integrada e acionável para gestão pública.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97280" y="5440680"/>
            <a:ext cx="3383280" cy="960120"/>
          </a:xfrm>
          <a:prstGeom prst="rect">
            <a:avLst/>
          </a:prstGeom>
          <a:solidFill>
            <a:srgbClr val="12121A"/>
          </a:solidFill>
          <a:ln w="6350">
            <a:solidFill>
              <a:srgbClr val="E91E6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0160" y="5486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 mi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280160" y="5989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no SUS em 2024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5440680"/>
            <a:ext cx="3383280" cy="960120"/>
          </a:xfrm>
          <a:prstGeom prst="rect">
            <a:avLst/>
          </a:prstGeom>
          <a:solidFill>
            <a:srgbClr val="12121A"/>
          </a:solidFill>
          <a:ln w="6350">
            <a:solidFill>
              <a:srgbClr val="E91E6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5486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5.570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4846320" y="5989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distribuídos no país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229600" y="5440680"/>
            <a:ext cx="3383280" cy="960120"/>
          </a:xfrm>
          <a:prstGeom prst="rect">
            <a:avLst/>
          </a:prstGeom>
          <a:solidFill>
            <a:srgbClr val="12121A"/>
          </a:solidFill>
          <a:ln w="6350">
            <a:solidFill>
              <a:srgbClr val="E91E6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12480" y="5486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8412480" y="5989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— o que estamos propondo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97280" y="65379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  ·  1TSCOA 2026  ·  Challenge Oracle + FIAP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 ser resolvido e público-alvo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e 4ª entregas · Para quem e por quê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600200"/>
            <a:ext cx="10515600" cy="228600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82880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2880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25880" y="22402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de saúde precisam identificar rapidamente quais regiões estão mais próximas de um possível estrangulamento no atendimento, considerando demanda hospitalar, capacidade instalada e vulnerabilidade territorial.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2588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325880" y="33375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municípios ou regiões apresentam maior risco de sobrecarga no sistema de saúde, considerando internações, estrutura hospitalar, perfil social, riscos epidemiológicos, natalidade e mortalidade?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97280" y="4023360"/>
            <a:ext cx="10515600" cy="23317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420624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828800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1325880" y="4663440"/>
            <a:ext cx="4846320" cy="640080"/>
          </a:xfrm>
          <a:prstGeom prst="rect">
            <a:avLst/>
          </a:prstGeom>
          <a:solidFill>
            <a:srgbClr val="1A1A24"/>
          </a:solidFill>
          <a:ln w="6350">
            <a:solidFill>
              <a:srgbClr val="E91E63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484632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74520" y="4663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Secretarias municipais e estaduais de saúde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46520" y="4663440"/>
            <a:ext cx="4846320" cy="640080"/>
          </a:xfrm>
          <a:prstGeom prst="rect">
            <a:avLst/>
          </a:prstGeom>
          <a:solidFill>
            <a:srgbClr val="1A1A24"/>
          </a:solidFill>
          <a:ln w="6350">
            <a:solidFill>
              <a:srgbClr val="E91E63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84632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4663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hospitalares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1325880" y="5440680"/>
            <a:ext cx="4846320" cy="640080"/>
          </a:xfrm>
          <a:prstGeom prst="rect">
            <a:avLst/>
          </a:prstGeom>
          <a:solidFill>
            <a:srgbClr val="1A1A24"/>
          </a:solidFill>
          <a:ln w="6350">
            <a:solidFill>
              <a:srgbClr val="E91E63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562356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874520" y="5440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planejamento em saúde pública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446520" y="5440680"/>
            <a:ext cx="4846320" cy="640080"/>
          </a:xfrm>
          <a:prstGeom prst="rect">
            <a:avLst/>
          </a:prstGeom>
          <a:solidFill>
            <a:srgbClr val="1A1A24"/>
          </a:solidFill>
          <a:ln w="6350">
            <a:solidFill>
              <a:srgbClr val="E91E63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623560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95160" y="5440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de vigilância epidemiológica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097280" y="65379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  ·  1TSCOA 2026  ·  Challenge Oracle + FIAP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solução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entrega · Identidade do projeto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600200"/>
            <a:ext cx="6217920" cy="457200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600200"/>
            <a:ext cx="6217920" cy="73152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20240"/>
            <a:ext cx="640080" cy="6400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103120" y="1920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Radar 360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1371600" y="2743200"/>
            <a:ext cx="640080" cy="457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6" name="Text 13"/>
          <p:cNvSpPr/>
          <p:nvPr/>
        </p:nvSpPr>
        <p:spPr>
          <a:xfrm>
            <a:off x="1371600" y="2926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RADAR. UM SISTEMA. UM GIRO COMPLETO.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371600" y="34747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esse nome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71600" y="384048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</a:t>
            </a:r>
            <a:r>
              <a:rPr lang="en-US" sz="12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 vigilância contínua e antecipação — o sistema enxerga antes do gargalo aparecer.
</a:t>
            </a:r>
            <a:r>
              <a:rPr lang="en-US" sz="12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</a:t>
            </a:r>
            <a:r>
              <a:rPr lang="en-US" sz="12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a solução nos dados públicos do Sistema Único de Saúde, base de tudo que será analisado.
</a:t>
            </a:r>
            <a:r>
              <a:rPr lang="en-US" sz="12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</a:t>
            </a:r>
            <a:r>
              <a:rPr lang="en-US" sz="12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a visão é integral: demanda, capacidade, vulnerabilidade social e risco epidemiológico em um mesmo painel.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98080" y="1600200"/>
            <a:ext cx="4114800" cy="14173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0" y="1600200"/>
            <a:ext cx="73152" cy="14173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2011680"/>
            <a:ext cx="594360" cy="5943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50392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8503920" y="23134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paciente chega ao sistema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498080" y="3172968"/>
            <a:ext cx="4114800" cy="14173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498080" y="3172968"/>
            <a:ext cx="73152" cy="14173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584448"/>
            <a:ext cx="594360" cy="5943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503920" y="34472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850392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mais exposto ao risco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498080" y="4745736"/>
            <a:ext cx="4114800" cy="14173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498080" y="4745736"/>
            <a:ext cx="73152" cy="14173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5157216"/>
            <a:ext cx="594360" cy="5943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503920" y="50200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Epidemiologia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8503920" y="54589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pressionando o sistema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1097280" y="65379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  ·  1TSCOA 2026  ·  Challenge Oracle + FIAP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solução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5ª entrega · O que vamos construir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600200"/>
            <a:ext cx="10515600" cy="82296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78308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745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Radar 360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874520" y="2057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inteligente em Oracle / OCI que cruza dados do DATASUS para identificar risco de sobrecarga no atendimento à saúde.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9728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em 5 frentes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97280" y="3017520"/>
            <a:ext cx="2008022" cy="228600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7280" y="3017520"/>
            <a:ext cx="2008022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8" name="Text 15"/>
          <p:cNvSpPr/>
          <p:nvPr/>
        </p:nvSpPr>
        <p:spPr>
          <a:xfrm>
            <a:off x="123444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662" y="324612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34440" y="3749040"/>
            <a:ext cx="17337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de dados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234440" y="4343400"/>
            <a:ext cx="3657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2" name="Text 18"/>
          <p:cNvSpPr/>
          <p:nvPr/>
        </p:nvSpPr>
        <p:spPr>
          <a:xfrm>
            <a:off x="1234440" y="4434840"/>
            <a:ext cx="17337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SIH/SUS, CNES, SIM, SINASC, SINAN e dados socioeconômicos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224174" y="3017520"/>
            <a:ext cx="2008022" cy="228600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224174" y="3017520"/>
            <a:ext cx="2008022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5" name="Text 21"/>
          <p:cNvSpPr/>
          <p:nvPr/>
        </p:nvSpPr>
        <p:spPr>
          <a:xfrm>
            <a:off x="3361334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557" y="324612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361334" y="3749040"/>
            <a:ext cx="17337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assistencial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361334" y="4343400"/>
            <a:ext cx="3657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9" name="Text 24"/>
          <p:cNvSpPr/>
          <p:nvPr/>
        </p:nvSpPr>
        <p:spPr>
          <a:xfrm>
            <a:off x="3361334" y="4434840"/>
            <a:ext cx="17337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leitos, equipes, hospitais e recursos disponíveis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351069" y="3017520"/>
            <a:ext cx="2008022" cy="228600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351069" y="3017520"/>
            <a:ext cx="2008022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2" name="Text 27"/>
          <p:cNvSpPr/>
          <p:nvPr/>
        </p:nvSpPr>
        <p:spPr>
          <a:xfrm>
            <a:off x="5488229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0451" y="324612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488229" y="3749040"/>
            <a:ext cx="17337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 territorial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5488229" y="4343400"/>
            <a:ext cx="3657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6" name="Text 30"/>
          <p:cNvSpPr/>
          <p:nvPr/>
        </p:nvSpPr>
        <p:spPr>
          <a:xfrm>
            <a:off x="5488229" y="4434840"/>
            <a:ext cx="17337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com renda, escolaridade, população, saneamento e PIB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7477963" y="3017520"/>
            <a:ext cx="2008022" cy="228600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477963" y="3017520"/>
            <a:ext cx="2008022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9" name="Text 33"/>
          <p:cNvSpPr/>
          <p:nvPr/>
        </p:nvSpPr>
        <p:spPr>
          <a:xfrm>
            <a:off x="7615123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7346" y="3246120"/>
            <a:ext cx="365760" cy="36576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615123" y="3749040"/>
            <a:ext cx="17337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epidemiológico e vital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7615123" y="4343400"/>
            <a:ext cx="3657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3" name="Text 36"/>
          <p:cNvSpPr/>
          <p:nvPr/>
        </p:nvSpPr>
        <p:spPr>
          <a:xfrm>
            <a:off x="7615123" y="4434840"/>
            <a:ext cx="17337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doenças, agravos, natalidade e mortalidade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9604858" y="3017520"/>
            <a:ext cx="2008022" cy="228600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9604858" y="3017520"/>
            <a:ext cx="2008022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6" name="Text 39"/>
          <p:cNvSpPr/>
          <p:nvPr/>
        </p:nvSpPr>
        <p:spPr>
          <a:xfrm>
            <a:off x="9742018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4240" y="3246120"/>
            <a:ext cx="365760" cy="36576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9742018" y="3749040"/>
            <a:ext cx="17337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para decisão</a:t>
            </a:r>
            <a:endParaRPr lang="en-US" sz="1200" dirty="0"/>
          </a:p>
        </p:txBody>
      </p:sp>
      <p:sp>
        <p:nvSpPr>
          <p:cNvPr id="49" name="Shape 41"/>
          <p:cNvSpPr/>
          <p:nvPr/>
        </p:nvSpPr>
        <p:spPr>
          <a:xfrm>
            <a:off x="9742018" y="4343400"/>
            <a:ext cx="3657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50" name="Text 42"/>
          <p:cNvSpPr/>
          <p:nvPr/>
        </p:nvSpPr>
        <p:spPr>
          <a:xfrm>
            <a:off x="9742018" y="4434840"/>
            <a:ext cx="17337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rankings, KPIs e perguntas em linguagem natural com Select AI</a:t>
            </a:r>
            <a:endParaRPr lang="en-US" sz="950" dirty="0"/>
          </a:p>
        </p:txBody>
      </p:sp>
      <p:sp>
        <p:nvSpPr>
          <p:cNvPr id="51" name="Shape 43"/>
          <p:cNvSpPr/>
          <p:nvPr/>
        </p:nvSpPr>
        <p:spPr>
          <a:xfrm>
            <a:off x="1097280" y="5486400"/>
            <a:ext cx="10515600" cy="868680"/>
          </a:xfrm>
          <a:prstGeom prst="rect">
            <a:avLst/>
          </a:prstGeom>
          <a:solidFill>
            <a:srgbClr val="1A1A24"/>
          </a:solidFill>
          <a:ln w="19050">
            <a:solidFill>
              <a:srgbClr val="E91E63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1097280" y="5486400"/>
            <a:ext cx="73152" cy="86868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5880" y="5715000"/>
            <a:ext cx="411480" cy="411480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1874520" y="54864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Cereja do bolo: perguntas em português via Oracle Select AI, sem o gestor escrever uma única linha de SQL.</a:t>
            </a:r>
            <a:endParaRPr lang="en-US" sz="1300" dirty="0"/>
          </a:p>
        </p:txBody>
      </p:sp>
      <p:sp>
        <p:nvSpPr>
          <p:cNvPr id="55" name="Text 46"/>
          <p:cNvSpPr/>
          <p:nvPr/>
        </p:nvSpPr>
        <p:spPr>
          <a:xfrm>
            <a:off x="1097280" y="65379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  ·  1TSCOA 2026  ·  Challenge Oracle + FIAP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esperados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6ª entrega · O que muda na vida do gestor com métricas atreladas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645920"/>
            <a:ext cx="3429000" cy="23317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645920"/>
            <a:ext cx="73152" cy="23317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8308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regiões com maior risco de sobrecarga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280160" y="2514600"/>
            <a:ext cx="3657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6" name="Text 13"/>
          <p:cNvSpPr/>
          <p:nvPr/>
        </p:nvSpPr>
        <p:spPr>
          <a:xfrm>
            <a:off x="1280160" y="2606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antecipada de onde o sistema vai estrangular nos próximos meses.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28016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100% das regiões de SP classificadas em verde, amarelo ou vermelho.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45152" y="1645920"/>
            <a:ext cx="3429000" cy="23317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45152" y="1645920"/>
            <a:ext cx="73152" cy="23317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82880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30952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 gargalos na rede hospitalar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28032" y="2514600"/>
            <a:ext cx="3657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3" name="Text 19"/>
          <p:cNvSpPr/>
          <p:nvPr/>
        </p:nvSpPr>
        <p:spPr>
          <a:xfrm>
            <a:off x="4828032" y="2606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pressão crescente antes de o leito faltar fisicamente.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828032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alerta vermelho gerado pelo menos 30 dias antes da ocupação crítica.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8193024" y="1645920"/>
            <a:ext cx="3429000" cy="23317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193024" y="1645920"/>
            <a:ext cx="73152" cy="23317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828800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878824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Apoiar decisões sobre leitos, equipes e investimentos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375904" y="2514600"/>
            <a:ext cx="3657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0" name="Text 25"/>
          <p:cNvSpPr/>
          <p:nvPr/>
        </p:nvSpPr>
        <p:spPr>
          <a:xfrm>
            <a:off x="8375904" y="2606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de alocação passa a ter base de dados — não intuição.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8375904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100% das recomendações estratégicas com lastro em IPA.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1097280" y="4096512"/>
            <a:ext cx="3429000" cy="23317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097280" y="4096512"/>
            <a:ext cx="73152" cy="23317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4279392"/>
            <a:ext cx="411480" cy="4114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783080" y="42336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campanhas preventivas por território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1280160" y="4965192"/>
            <a:ext cx="3657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7" name="Text 31"/>
          <p:cNvSpPr/>
          <p:nvPr/>
        </p:nvSpPr>
        <p:spPr>
          <a:xfrm>
            <a:off x="1280160" y="50566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 social vira filtro para onde atuar primeiro.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280160" y="5879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top 10 territórios críticos publicados mensalmente.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4645152" y="4096512"/>
            <a:ext cx="3429000" cy="23317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645152" y="4096512"/>
            <a:ext cx="73152" cy="23317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4279392"/>
            <a:ext cx="411480" cy="41148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330952" y="42336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dependência de consultas SQL manuais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4828032" y="4965192"/>
            <a:ext cx="3657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4" name="Text 37"/>
          <p:cNvSpPr/>
          <p:nvPr/>
        </p:nvSpPr>
        <p:spPr>
          <a:xfrm>
            <a:off x="4828032" y="50566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fazem perguntas direto ao Select AI — analista foca no que importa.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4828032" y="5879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80% das perguntas resolvidas sem fila no time técnico.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8193024" y="4096512"/>
            <a:ext cx="3429000" cy="23317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8193024" y="4096512"/>
            <a:ext cx="73152" cy="23317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4279392"/>
            <a:ext cx="411480" cy="41148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878824" y="42336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dados públicos em ações de gestão</a:t>
            </a:r>
            <a:endParaRPr lang="en-US" sz="1200" dirty="0"/>
          </a:p>
        </p:txBody>
      </p:sp>
      <p:sp>
        <p:nvSpPr>
          <p:cNvPr id="50" name="Shape 42"/>
          <p:cNvSpPr/>
          <p:nvPr/>
        </p:nvSpPr>
        <p:spPr>
          <a:xfrm>
            <a:off x="8375904" y="4965192"/>
            <a:ext cx="3657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51" name="Text 43"/>
          <p:cNvSpPr/>
          <p:nvPr/>
        </p:nvSpPr>
        <p:spPr>
          <a:xfrm>
            <a:off x="8375904" y="50566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DATASUS deixa de ser arquivo bruto e vira insumo de governança.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8375904" y="5879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tempo de resposta &lt; 15s em 90% das perguntas frequentes.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1097280" y="65379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  ·  1TSCOA 2026  ·  Challenge Oracle + FIAP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detalhado por pares de trabalho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10ª entrega · Visão detalhada · Quem faz o quê em cada sprint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600200"/>
            <a:ext cx="10515600" cy="105156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783080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00200" y="1719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até a entrega final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máximo: início de outubro / 2026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554480" y="2331720"/>
            <a:ext cx="9784080" cy="0"/>
          </a:xfrm>
          <a:prstGeom prst="line">
            <a:avLst/>
          </a:prstGeom>
          <a:noFill/>
          <a:ln w="19050">
            <a:solidFill>
              <a:srgbClr val="E91E6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72184" y="2249424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2029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16/JUN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14400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401568" y="2221992"/>
            <a:ext cx="219456" cy="219456"/>
          </a:xfrm>
          <a:prstGeom prst="ellipse">
            <a:avLst/>
          </a:prstGeom>
          <a:solidFill>
            <a:srgbClr val="E91E63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62656" y="2029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30/JUN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871216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385816" y="224942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19472" y="2029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21/JUL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28032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IPA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342632" y="224942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76288" y="2029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18/AGO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784848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299448" y="224942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833104" y="2029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08/SET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741664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1256264" y="224942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789920" y="2029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06/OUT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698480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097280" y="2788920"/>
            <a:ext cx="3291840" cy="27889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97280" y="2788920"/>
            <a:ext cx="3291840" cy="73152"/>
          </a:xfrm>
          <a:prstGeom prst="rect">
            <a:avLst/>
          </a:prstGeom>
          <a:solidFill>
            <a:srgbClr val="F4A937"/>
          </a:solidFill>
          <a:ln/>
        </p:spPr>
      </p:sp>
      <p:sp>
        <p:nvSpPr>
          <p:cNvPr id="37" name="Text 33"/>
          <p:cNvSpPr/>
          <p:nvPr/>
        </p:nvSpPr>
        <p:spPr>
          <a:xfrm>
            <a:off x="1277815" y="2934599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4A937"/>
                </a:solidFill>
                <a:latin typeface="Calibri"/>
                <a:ea typeface="Calibri"/>
                <a:cs typeface="Calibri"/>
              </a:rPr>
              <a:t>IA + PITCH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128016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Karen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1280160" y="3703320"/>
            <a:ext cx="365760" cy="27432"/>
          </a:xfrm>
          <a:prstGeom prst="rect">
            <a:avLst/>
          </a:prstGeom>
          <a:solidFill>
            <a:srgbClr val="F4A937"/>
          </a:solidFill>
          <a:ln/>
        </p:spPr>
      </p:sp>
      <p:sp>
        <p:nvSpPr>
          <p:cNvPr id="40" name="Text 36"/>
          <p:cNvSpPr/>
          <p:nvPr/>
        </p:nvSpPr>
        <p:spPr>
          <a:xfrm>
            <a:off x="1280160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kern="0" spc="200" dirty="0">
                <a:solidFill>
                  <a:srgbClr val="F4A937"/>
                </a:solidFill>
                <a:latin typeface="Calibri"/>
                <a:ea typeface="Calibri"/>
                <a:cs typeface="Calibri"/>
              </a:rPr>
              <a:t>S1-S6  </a:t>
            </a:r>
            <a:r>
              <a:rPr lang="en-US" sz="9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Product Owner
</a:t>
            </a:r>
            <a:r>
              <a:rPr lang="en-US" sz="950" b="1" kern="0" spc="200" dirty="0">
                <a:solidFill>
                  <a:srgbClr val="F4A937"/>
                </a:solidFill>
                <a:latin typeface="Calibri"/>
                <a:ea typeface="Calibri"/>
                <a:cs typeface="Calibri"/>
              </a:rPr>
              <a:t>S4-S5  </a:t>
            </a:r>
            <a:r>
              <a:rPr lang="en-US" sz="9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Select AI: profile + prompts
</a:t>
            </a:r>
            <a:r>
              <a:rPr lang="en-US" sz="950" b="1" kern="0" spc="200" dirty="0">
                <a:solidFill>
                  <a:srgbClr val="F4A937"/>
                </a:solidFill>
                <a:latin typeface="Calibri"/>
                <a:ea typeface="Calibri"/>
                <a:cs typeface="Calibri"/>
              </a:rPr>
              <a:t>S5  </a:t>
            </a:r>
            <a:r>
              <a:rPr lang="en-US" sz="95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Roteiro</a:t>
            </a:r>
            <a:r>
              <a:rPr lang="en-US" sz="9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95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gravação</a:t>
            </a:r>
            <a:r>
              <a:rPr lang="en-US" sz="9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95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vídeo</a:t>
            </a:r>
            <a:r>
              <a:rPr lang="en-US" sz="9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pitch
</a:t>
            </a:r>
            <a:r>
              <a:rPr lang="en-US" sz="950" b="1" kern="0" spc="200" dirty="0">
                <a:solidFill>
                  <a:srgbClr val="F4A937"/>
                </a:solidFill>
                <a:latin typeface="Calibri"/>
                <a:ea typeface="Calibri"/>
                <a:cs typeface="Calibri"/>
              </a:rPr>
              <a:t>S5  </a:t>
            </a:r>
            <a:r>
              <a:rPr lang="en-US" sz="9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README e PPT da Sprint 2
</a:t>
            </a:r>
            <a:r>
              <a:rPr lang="en-US" sz="950" b="1" kern="0" spc="200" dirty="0">
                <a:solidFill>
                  <a:srgbClr val="F4A937"/>
                </a:solidFill>
                <a:latin typeface="Calibri"/>
                <a:ea typeface="Calibri"/>
                <a:cs typeface="Calibri"/>
              </a:rPr>
              <a:t>S6  </a:t>
            </a:r>
            <a:r>
              <a:rPr lang="en-US" sz="95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Conferência</a:t>
            </a:r>
            <a:r>
              <a:rPr lang="en-US" sz="9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final </a:t>
            </a:r>
            <a:endParaRPr lang="en-US" sz="950" dirty="0">
              <a:latin typeface="Calibri"/>
              <a:ea typeface="Calibri"/>
              <a:cs typeface="Calibri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4526280" y="2788920"/>
            <a:ext cx="3520440" cy="27889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526280" y="2788920"/>
            <a:ext cx="3520440" cy="73152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971800"/>
            <a:ext cx="256032" cy="25603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029200" y="29443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 · INGESTÃO DE DADOS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470916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 +  Guilherme</a:t>
            </a:r>
            <a:endParaRPr lang="en-US" sz="1600" dirty="0"/>
          </a:p>
        </p:txBody>
      </p:sp>
      <p:sp>
        <p:nvSpPr>
          <p:cNvPr id="46" name="Shape 41"/>
          <p:cNvSpPr/>
          <p:nvPr/>
        </p:nvSpPr>
        <p:spPr>
          <a:xfrm>
            <a:off x="4709160" y="3703320"/>
            <a:ext cx="3657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7" name="Text 42"/>
          <p:cNvSpPr/>
          <p:nvPr/>
        </p:nvSpPr>
        <p:spPr>
          <a:xfrm>
            <a:off x="4709160" y="379476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95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DBC SIH/SUS de SP
</a:t>
            </a:r>
            <a:r>
              <a:rPr lang="en-US" sz="95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DBC → CSV via pyreaddbc
</a:t>
            </a:r>
            <a:r>
              <a:rPr lang="en-US" sz="95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em OCI Object Storage
</a:t>
            </a:r>
            <a:r>
              <a:rPr lang="en-US" sz="95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CNES (JSON) e CSV IBGE
</a:t>
            </a:r>
            <a:r>
              <a:rPr lang="en-US" sz="95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Tables apontando para arquivos
</a:t>
            </a:r>
            <a:r>
              <a:rPr lang="en-US" sz="95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técnica no GitHub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8183880" y="2788920"/>
            <a:ext cx="3520440" cy="27889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8183880" y="2788920"/>
            <a:ext cx="3520440" cy="73152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971800"/>
            <a:ext cx="256032" cy="256032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8686800" y="29443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 · MODELAGEM + IPA + APEX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836676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 +  Ryan</a:t>
            </a:r>
            <a:endParaRPr lang="en-US" sz="1600" dirty="0"/>
          </a:p>
        </p:txBody>
      </p:sp>
      <p:sp>
        <p:nvSpPr>
          <p:cNvPr id="53" name="Shape 47"/>
          <p:cNvSpPr/>
          <p:nvPr/>
        </p:nvSpPr>
        <p:spPr>
          <a:xfrm>
            <a:off x="8366760" y="3703320"/>
            <a:ext cx="3657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54" name="Text 48"/>
          <p:cNvSpPr/>
          <p:nvPr/>
        </p:nvSpPr>
        <p:spPr>
          <a:xfrm>
            <a:off x="8366760" y="379476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95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Staging → Bronze → Silver
</a:t>
            </a:r>
            <a:r>
              <a:rPr lang="en-US" sz="95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+ Marts com agregações regionais
</a:t>
            </a:r>
            <a:r>
              <a:rPr lang="en-US" sz="95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do cálculo do IPA
</a:t>
            </a:r>
            <a:r>
              <a:rPr lang="en-US" sz="95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estatística com tutor
</a:t>
            </a:r>
            <a:r>
              <a:rPr lang="en-US" sz="95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APEX: mapa + drill-down
</a:t>
            </a:r>
            <a:r>
              <a:rPr lang="en-US" sz="95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para evidências visuais</a:t>
            </a:r>
            <a:endParaRPr lang="en-US" sz="950" dirty="0"/>
          </a:p>
        </p:txBody>
      </p:sp>
      <p:sp>
        <p:nvSpPr>
          <p:cNvPr id="55" name="Shape 49"/>
          <p:cNvSpPr/>
          <p:nvPr/>
        </p:nvSpPr>
        <p:spPr>
          <a:xfrm>
            <a:off x="1097280" y="5715000"/>
            <a:ext cx="10515600" cy="777240"/>
          </a:xfrm>
          <a:prstGeom prst="rect">
            <a:avLst/>
          </a:prstGeom>
          <a:solidFill>
            <a:srgbClr val="1A1A24"/>
          </a:solidFill>
          <a:ln w="6350">
            <a:solidFill>
              <a:srgbClr val="E91E63"/>
            </a:solidFill>
            <a:prstDash val="solid"/>
          </a:ln>
        </p:spPr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5897880"/>
            <a:ext cx="228600" cy="228600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1572768" y="5852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CERIMÔNIAS ÁGEIS — Scrum + Kanban</a:t>
            </a:r>
            <a:endParaRPr lang="en-US" sz="1100" dirty="0"/>
          </a:p>
        </p:txBody>
      </p:sp>
      <p:sp>
        <p:nvSpPr>
          <p:cNvPr id="58" name="Text 51"/>
          <p:cNvSpPr/>
          <p:nvPr/>
        </p:nvSpPr>
        <p:spPr>
          <a:xfrm>
            <a:off x="1280160" y="614476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via Discord (seg-sex)   ·   </a:t>
            </a:r>
            <a:r>
              <a:rPr lang="en-US" sz="95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quinzenal   ·   </a:t>
            </a:r>
            <a:r>
              <a:rPr lang="en-US" sz="95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Retro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de cada marco com tutor   ·   </a:t>
            </a:r>
            <a:r>
              <a:rPr lang="en-US" sz="95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</a:t>
            </a:r>
            <a:r>
              <a:rPr lang="en-US" sz="9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(Backlog → Doing → Review → Done)</a:t>
            </a:r>
            <a:endParaRPr lang="en-US" sz="950" dirty="0"/>
          </a:p>
        </p:txBody>
      </p:sp>
      <p:sp>
        <p:nvSpPr>
          <p:cNvPr id="59" name="Text 52"/>
          <p:cNvSpPr/>
          <p:nvPr/>
        </p:nvSpPr>
        <p:spPr>
          <a:xfrm>
            <a:off x="1097280" y="65379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  ·  1TSCOA 2026  ·  Challenge Oracle + FIAP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indicadores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para identificar pressão assistencial, vulnerabilidade territorial e risco de estrangulamento no SUS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645920"/>
            <a:ext cx="10515600" cy="91440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645920"/>
            <a:ext cx="73152" cy="9144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3" name="Shape 11"/>
          <p:cNvSpPr/>
          <p:nvPr/>
        </p:nvSpPr>
        <p:spPr>
          <a:xfrm>
            <a:off x="1325880" y="1874520"/>
            <a:ext cx="457200" cy="457200"/>
          </a:xfrm>
          <a:prstGeom prst="ellipse">
            <a:avLst/>
          </a:prstGeom>
          <a:solidFill>
            <a:srgbClr val="1A1A24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901952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514600" y="1737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Hospitalar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60720" y="17373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volume, crescimento e sazonalidade das internações por município, região, hospital, especialidade e tipo de atendimento.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97280" y="2624328"/>
            <a:ext cx="10515600" cy="91440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97280" y="2624328"/>
            <a:ext cx="73152" cy="9144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0" name="Shape 17"/>
          <p:cNvSpPr/>
          <p:nvPr/>
        </p:nvSpPr>
        <p:spPr>
          <a:xfrm>
            <a:off x="1325880" y="2852928"/>
            <a:ext cx="457200" cy="457200"/>
          </a:xfrm>
          <a:prstGeom prst="ellipse">
            <a:avLst/>
          </a:prstGeom>
          <a:solidFill>
            <a:srgbClr val="1A1A24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2588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2880360"/>
            <a:ext cx="411480" cy="411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514600" y="27157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Assistencial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760720" y="271576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internações com leitos, equipes, recursos físicos e estrutura hospitalar disponível no CNES.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1097280" y="3602736"/>
            <a:ext cx="10515600" cy="91440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097280" y="3602736"/>
            <a:ext cx="73152" cy="9144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7" name="Shape 23"/>
          <p:cNvSpPr/>
          <p:nvPr/>
        </p:nvSpPr>
        <p:spPr>
          <a:xfrm>
            <a:off x="1325880" y="3831336"/>
            <a:ext cx="457200" cy="457200"/>
          </a:xfrm>
          <a:prstGeom prst="ellipse">
            <a:avLst/>
          </a:prstGeom>
          <a:solidFill>
            <a:srgbClr val="1A1A24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32588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3858768"/>
            <a:ext cx="411480" cy="4114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514600" y="369417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 Social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5760720" y="369417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fatores como população, renda, escolaridade, saneamento e PIB para entender territórios mais expostos.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1097280" y="4581144"/>
            <a:ext cx="10515600" cy="91440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097280" y="4581144"/>
            <a:ext cx="73152" cy="9144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4" name="Shape 29"/>
          <p:cNvSpPr/>
          <p:nvPr/>
        </p:nvSpPr>
        <p:spPr>
          <a:xfrm>
            <a:off x="1325880" y="4809744"/>
            <a:ext cx="457200" cy="457200"/>
          </a:xfrm>
          <a:prstGeom prst="ellipse">
            <a:avLst/>
          </a:prstGeom>
          <a:solidFill>
            <a:srgbClr val="1A1A24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32588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4837176"/>
            <a:ext cx="411480" cy="4114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2514600" y="467258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Epidemiológico e Vital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5760720" y="467258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doenças, agravos, natalidade e mortalidade para antecipar aumento futuro de demanda em saúde.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1097280" y="5559552"/>
            <a:ext cx="10515600" cy="91440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097280" y="5559552"/>
            <a:ext cx="73152" cy="9144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1" name="Shape 35"/>
          <p:cNvSpPr/>
          <p:nvPr/>
        </p:nvSpPr>
        <p:spPr>
          <a:xfrm>
            <a:off x="1325880" y="5788152"/>
            <a:ext cx="457200" cy="457200"/>
          </a:xfrm>
          <a:prstGeom prst="ellipse">
            <a:avLst/>
          </a:prstGeom>
          <a:solidFill>
            <a:srgbClr val="1A1A24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1325880" y="5788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5960" y="5815584"/>
            <a:ext cx="411480" cy="41148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2514600" y="565099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Pressão do SUS (IPA)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5760720" y="565099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consolidado que combina demanda, capacidade, vulnerabilidade e risco para ranquear regiões críticas.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1097280" y="65379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  ·  1TSCOA 2026  ·  Challenge Oracle + FIAP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fluxo de dados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7ª entrega · Componentes da solução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600200"/>
            <a:ext cx="10515600" cy="777240"/>
          </a:xfrm>
          <a:prstGeom prst="rect">
            <a:avLst/>
          </a:prstGeom>
          <a:solidFill>
            <a:srgbClr val="12121A"/>
          </a:solidFill>
          <a:ln w="6350">
            <a:solidFill>
              <a:srgbClr val="E91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16916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do SUS Radar 360 centraliza arquivos CSV/XLSX/JSON do TABNET no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Object Storage</a:t>
            </a: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processa e padroniza os dados com recursos Oracle, armazena o modelo analítico no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Autonomous Database</a:t>
            </a: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disponibiliza indicadores em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</a:t>
            </a:r>
            <a:r>
              <a:rPr lang="en-US" sz="11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 evolução para perguntas em linguagem natural via </a:t>
            </a:r>
            <a:r>
              <a:rPr lang="en-US" sz="11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DATASUS / TABNET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97280" y="2926080"/>
            <a:ext cx="2286000" cy="713232"/>
          </a:xfrm>
          <a:prstGeom prst="rect">
            <a:avLst/>
          </a:prstGeom>
          <a:solidFill>
            <a:srgbClr val="12121A"/>
          </a:solidFill>
          <a:ln w="6350">
            <a:solidFill>
              <a:srgbClr val="E91E63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145536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0200" y="29992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SIH/SUS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600200" y="3291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(CSV)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097280" y="3703320"/>
            <a:ext cx="2286000" cy="713232"/>
          </a:xfrm>
          <a:prstGeom prst="rect">
            <a:avLst/>
          </a:prstGeom>
          <a:solidFill>
            <a:srgbClr val="12121A"/>
          </a:solidFill>
          <a:ln w="6350">
            <a:solidFill>
              <a:srgbClr val="E91E63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922776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00200" y="3776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600200" y="40690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Leitos (JSON)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1097280" y="4480560"/>
            <a:ext cx="2286000" cy="713232"/>
          </a:xfrm>
          <a:prstGeom prst="rect">
            <a:avLst/>
          </a:prstGeom>
          <a:solidFill>
            <a:srgbClr val="12121A"/>
          </a:solidFill>
          <a:ln w="6350">
            <a:solidFill>
              <a:srgbClr val="E91E63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700016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00200" y="45537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SIM/SINASC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600200" y="4846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097280" y="5257800"/>
            <a:ext cx="2286000" cy="713232"/>
          </a:xfrm>
          <a:prstGeom prst="rect">
            <a:avLst/>
          </a:prstGeom>
          <a:solidFill>
            <a:srgbClr val="12121A"/>
          </a:solidFill>
          <a:ln w="6350">
            <a:solidFill>
              <a:srgbClr val="E91E63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547725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53309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600200" y="5623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365760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657600" y="2926080"/>
            <a:ext cx="2286000" cy="292608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3108960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74904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Object Storage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4389120" y="3950208"/>
            <a:ext cx="82296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5" name="Text 28"/>
          <p:cNvSpPr/>
          <p:nvPr/>
        </p:nvSpPr>
        <p:spPr>
          <a:xfrm>
            <a:off x="3749040" y="406908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/datasus/raw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/datasus/staging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/cnes/json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/socio/csv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621792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AUTONOMOUS DATABASE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6217920" y="2926080"/>
            <a:ext cx="3291840" cy="292608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355080" y="3063240"/>
            <a:ext cx="3017520" cy="411480"/>
          </a:xfrm>
          <a:prstGeom prst="rect">
            <a:avLst/>
          </a:prstGeom>
          <a:solidFill>
            <a:srgbClr val="634842"/>
          </a:solidFill>
          <a:ln/>
        </p:spPr>
      </p:sp>
      <p:sp>
        <p:nvSpPr>
          <p:cNvPr id="39" name="Text 32"/>
          <p:cNvSpPr/>
          <p:nvPr/>
        </p:nvSpPr>
        <p:spPr>
          <a:xfrm>
            <a:off x="635508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6355080" y="3538728"/>
            <a:ext cx="3017520" cy="411480"/>
          </a:xfrm>
          <a:prstGeom prst="rect">
            <a:avLst/>
          </a:prstGeom>
          <a:solidFill>
            <a:srgbClr val="8C5A2E"/>
          </a:solidFill>
          <a:ln/>
        </p:spPr>
      </p:sp>
      <p:sp>
        <p:nvSpPr>
          <p:cNvPr id="41" name="Text 34"/>
          <p:cNvSpPr/>
          <p:nvPr/>
        </p:nvSpPr>
        <p:spPr>
          <a:xfrm>
            <a:off x="6355080" y="35387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355080" y="4014216"/>
            <a:ext cx="3017520" cy="411480"/>
          </a:xfrm>
          <a:prstGeom prst="rect">
            <a:avLst/>
          </a:prstGeom>
          <a:solidFill>
            <a:srgbClr val="8B8B95"/>
          </a:solidFill>
          <a:ln/>
        </p:spPr>
      </p:sp>
      <p:sp>
        <p:nvSpPr>
          <p:cNvPr id="43" name="Text 36"/>
          <p:cNvSpPr/>
          <p:nvPr/>
        </p:nvSpPr>
        <p:spPr>
          <a:xfrm>
            <a:off x="6355080" y="401421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6355080" y="4489704"/>
            <a:ext cx="3017520" cy="411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5" name="Text 38"/>
          <p:cNvSpPr/>
          <p:nvPr/>
        </p:nvSpPr>
        <p:spPr>
          <a:xfrm>
            <a:off x="6355080" y="44897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6355080" y="4965192"/>
            <a:ext cx="3017520" cy="4114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7" name="Text 40"/>
          <p:cNvSpPr/>
          <p:nvPr/>
        </p:nvSpPr>
        <p:spPr>
          <a:xfrm>
            <a:off x="6355080" y="4965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6355080" y="5486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 Integration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978408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9784080" y="2926080"/>
            <a:ext cx="1828800" cy="914400"/>
          </a:xfrm>
          <a:prstGeom prst="rect">
            <a:avLst/>
          </a:prstGeom>
          <a:solidFill>
            <a:srgbClr val="12121A"/>
          </a:solidFill>
          <a:ln w="6350">
            <a:solidFill>
              <a:srgbClr val="E91E63"/>
            </a:solidFill>
            <a:prstDash val="solid"/>
          </a:ln>
        </p:spPr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3108960"/>
            <a:ext cx="365760" cy="365760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10332720" y="3063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10332720" y="3383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9784080" y="3904488"/>
            <a:ext cx="1828800" cy="914400"/>
          </a:xfrm>
          <a:prstGeom prst="rect">
            <a:avLst/>
          </a:prstGeom>
          <a:solidFill>
            <a:srgbClr val="12121A"/>
          </a:solidFill>
          <a:ln w="6350">
            <a:solidFill>
              <a:srgbClr val="E91E63"/>
            </a:solidFill>
            <a:prstDash val="solid"/>
          </a:ln>
        </p:spPr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1240" y="4087368"/>
            <a:ext cx="365760" cy="365760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10332720" y="4041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</a:t>
            </a:r>
            <a:endParaRPr lang="en-US" sz="1200" dirty="0"/>
          </a:p>
        </p:txBody>
      </p:sp>
      <p:sp>
        <p:nvSpPr>
          <p:cNvPr id="57" name="Text 48"/>
          <p:cNvSpPr/>
          <p:nvPr/>
        </p:nvSpPr>
        <p:spPr>
          <a:xfrm>
            <a:off x="10332720" y="4361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SQL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9784080" y="4882896"/>
            <a:ext cx="1828800" cy="914400"/>
          </a:xfrm>
          <a:prstGeom prst="rect">
            <a:avLst/>
          </a:prstGeom>
          <a:solidFill>
            <a:srgbClr val="12121A"/>
          </a:solidFill>
          <a:ln w="6350">
            <a:solidFill>
              <a:srgbClr val="E91E63"/>
            </a:solidFill>
            <a:prstDash val="solid"/>
          </a:ln>
        </p:spPr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240" y="5065776"/>
            <a:ext cx="365760" cy="365760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10332720" y="50200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61" name="Text 51"/>
          <p:cNvSpPr/>
          <p:nvPr/>
        </p:nvSpPr>
        <p:spPr>
          <a:xfrm>
            <a:off x="10332720" y="53400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err="1">
                <a:solidFill>
                  <a:srgbClr val="8B8B95"/>
                </a:solidFill>
                <a:ea typeface="Calibri"/>
                <a:cs typeface="Calibri"/>
              </a:rPr>
              <a:t>Camada</a:t>
            </a:r>
            <a:r>
              <a:rPr lang="en-US" sz="900" dirty="0">
                <a:solidFill>
                  <a:srgbClr val="8B8B95"/>
                </a:solidFill>
                <a:ea typeface="Calibri"/>
                <a:cs typeface="Calibri"/>
              </a:rPr>
              <a:t> de BI </a:t>
            </a:r>
          </a:p>
        </p:txBody>
      </p:sp>
      <p:sp>
        <p:nvSpPr>
          <p:cNvPr id="62" name="Shape 52"/>
          <p:cNvSpPr/>
          <p:nvPr/>
        </p:nvSpPr>
        <p:spPr>
          <a:xfrm>
            <a:off x="3401568" y="4389120"/>
            <a:ext cx="256032" cy="0"/>
          </a:xfrm>
          <a:prstGeom prst="line">
            <a:avLst/>
          </a:prstGeom>
          <a:noFill/>
          <a:ln w="25400">
            <a:solidFill>
              <a:srgbClr val="E91E63"/>
            </a:solidFill>
            <a:prstDash val="solid"/>
            <a:tailEnd type="triangle"/>
          </a:ln>
        </p:spPr>
      </p:sp>
      <p:sp>
        <p:nvSpPr>
          <p:cNvPr id="63" name="Shape 53"/>
          <p:cNvSpPr/>
          <p:nvPr/>
        </p:nvSpPr>
        <p:spPr>
          <a:xfrm>
            <a:off x="5961888" y="4389120"/>
            <a:ext cx="256032" cy="0"/>
          </a:xfrm>
          <a:prstGeom prst="line">
            <a:avLst/>
          </a:prstGeom>
          <a:noFill/>
          <a:ln w="25400">
            <a:solidFill>
              <a:srgbClr val="E91E63"/>
            </a:solidFill>
            <a:prstDash val="solid"/>
            <a:tailEnd type="triangle"/>
          </a:ln>
        </p:spPr>
      </p:sp>
      <p:sp>
        <p:nvSpPr>
          <p:cNvPr id="64" name="Shape 54"/>
          <p:cNvSpPr/>
          <p:nvPr/>
        </p:nvSpPr>
        <p:spPr>
          <a:xfrm>
            <a:off x="9528048" y="4389120"/>
            <a:ext cx="256032" cy="0"/>
          </a:xfrm>
          <a:prstGeom prst="line">
            <a:avLst/>
          </a:prstGeom>
          <a:noFill/>
          <a:ln w="25400">
            <a:solidFill>
              <a:srgbClr val="E91E63"/>
            </a:solidFill>
            <a:prstDash val="solid"/>
            <a:tailEnd type="triangle"/>
          </a:ln>
        </p:spPr>
      </p:sp>
      <p:sp>
        <p:nvSpPr>
          <p:cNvPr id="65" name="Text 55"/>
          <p:cNvSpPr/>
          <p:nvPr/>
        </p:nvSpPr>
        <p:spPr>
          <a:xfrm>
            <a:off x="1097280" y="65379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  ·  1TSCOA 2026  ·  Challenge Oracle + FIAP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8ª entrega · Detalhamento técnico das ferramentas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600200"/>
            <a:ext cx="3429000" cy="14173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600200"/>
            <a:ext cx="73152" cy="14173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78308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3736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DATASUS / TABNET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80160" y="2194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públicas oficiais de dados em saúde do Ministério da Saúde.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45152" y="1600200"/>
            <a:ext cx="3429000" cy="14173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45152" y="1600200"/>
            <a:ext cx="73152" cy="14173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7830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85232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XLSX e JSON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28032" y="2194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entrada das bases públicas — relacional, planilha e semiestruturado.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193024" y="1600200"/>
            <a:ext cx="3429000" cy="14173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193024" y="1600200"/>
            <a:ext cx="73152" cy="14173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78308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33104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Object Storage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375904" y="2194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bruto em /datasus/raw e camadas de processamento.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1097280" y="3136392"/>
            <a:ext cx="3429000" cy="14173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097280" y="3136392"/>
            <a:ext cx="73152" cy="14173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3319272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737360" y="3273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External Tables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280160" y="373075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direta dos arquivos no banco, sem ETL pesado.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645152" y="3136392"/>
            <a:ext cx="3429000" cy="14173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645152" y="3136392"/>
            <a:ext cx="73152" cy="14173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319272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85232" y="3273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Autonomous Database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828032" y="373075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Staging, Bronze, Silver, Gold e Marts (medalhão).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8193024" y="3136392"/>
            <a:ext cx="3429000" cy="14173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193024" y="3136392"/>
            <a:ext cx="73152" cy="14173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3319272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833104" y="3273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 Integration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8375904" y="373075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entre camadas com pipelines SQL versionados.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1097280" y="4672584"/>
            <a:ext cx="3429000" cy="14173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097280" y="4672584"/>
            <a:ext cx="73152" cy="14173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0160" y="4855464"/>
            <a:ext cx="365760" cy="36576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737360" y="48097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1280160" y="52669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Tratamento, regras de negócio e cálculo de KPIs no próprio banco.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4645152" y="4672584"/>
            <a:ext cx="3429000" cy="14173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4645152" y="4672584"/>
            <a:ext cx="73152" cy="14173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8032" y="4855464"/>
            <a:ext cx="365760" cy="36576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285232" y="48097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Analytics / Power BI</a:t>
            </a:r>
            <a:endParaRPr lang="en-US" sz="1200" dirty="0"/>
          </a:p>
        </p:txBody>
      </p:sp>
      <p:sp>
        <p:nvSpPr>
          <p:cNvPr id="50" name="Text 40"/>
          <p:cNvSpPr/>
          <p:nvPr/>
        </p:nvSpPr>
        <p:spPr>
          <a:xfrm>
            <a:off x="4828032" y="52669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BI e dashboards analíticos para usuários finais.</a:t>
            </a:r>
            <a:endParaRPr lang="en-US" sz="1000" dirty="0"/>
          </a:p>
        </p:txBody>
      </p:sp>
      <p:sp>
        <p:nvSpPr>
          <p:cNvPr id="51" name="Shape 41"/>
          <p:cNvSpPr/>
          <p:nvPr/>
        </p:nvSpPr>
        <p:spPr>
          <a:xfrm>
            <a:off x="8193024" y="4672584"/>
            <a:ext cx="3429000" cy="141732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8193024" y="4672584"/>
            <a:ext cx="73152" cy="1417320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5904" y="4855464"/>
            <a:ext cx="365760" cy="365760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8833104" y="48097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Select AI</a:t>
            </a:r>
            <a:endParaRPr lang="en-US" sz="1200" dirty="0"/>
          </a:p>
        </p:txBody>
      </p:sp>
      <p:sp>
        <p:nvSpPr>
          <p:cNvPr id="55" name="Text 44"/>
          <p:cNvSpPr/>
          <p:nvPr/>
        </p:nvSpPr>
        <p:spPr>
          <a:xfrm>
            <a:off x="8375904" y="52669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em linguagem natural sobre os dados já tratados.</a:t>
            </a:r>
            <a:endParaRPr lang="en-US" sz="1000" dirty="0"/>
          </a:p>
        </p:txBody>
      </p:sp>
      <p:sp>
        <p:nvSpPr>
          <p:cNvPr id="56" name="Text 45"/>
          <p:cNvSpPr/>
          <p:nvPr/>
        </p:nvSpPr>
        <p:spPr>
          <a:xfrm>
            <a:off x="1097280" y="65379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  ·  1TSCOA 2026  ·  Challenge Oracle + FIAP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da solução · Dashboard principal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9ª </a:t>
            </a:r>
            <a:r>
              <a:rPr lang="en-US" sz="1100" i="1" dirty="0" err="1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entrega</a:t>
            </a:r>
            <a:r>
              <a:rPr lang="en-US" sz="1100" i="1" dirty="0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 · </a:t>
            </a:r>
            <a:r>
              <a:rPr lang="en-US" sz="1100" i="1" dirty="0" err="1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Protótipo</a:t>
            </a:r>
            <a:r>
              <a:rPr lang="en-US" sz="1100" i="1" dirty="0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100" i="1" dirty="0" err="1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telas</a:t>
            </a:r>
            <a:endParaRPr lang="en-US" sz="1100" i="1" dirty="0" err="1">
              <a:solidFill>
                <a:srgbClr val="8B8B95"/>
              </a:solidFill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97280" y="1600200"/>
            <a:ext cx="7772400" cy="470916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600200"/>
            <a:ext cx="7772400" cy="457200"/>
          </a:xfrm>
          <a:prstGeom prst="rect">
            <a:avLst/>
          </a:prstGeom>
          <a:solidFill>
            <a:srgbClr val="1A1A24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9164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54480" y="1627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Radar 360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0" y="16276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São Paulo  ·  últimos 12 meses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280160" y="2194560"/>
            <a:ext cx="2423160" cy="77724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7" name="Text 14"/>
          <p:cNvSpPr/>
          <p:nvPr/>
        </p:nvSpPr>
        <p:spPr>
          <a:xfrm>
            <a:off x="1417320" y="22128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27,62 mi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41732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12 meses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794760" y="2194560"/>
            <a:ext cx="2423160" cy="77724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0" name="Text 17"/>
          <p:cNvSpPr/>
          <p:nvPr/>
        </p:nvSpPr>
        <p:spPr>
          <a:xfrm>
            <a:off x="3931920" y="22128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54,63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93192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diária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309360" y="2194560"/>
            <a:ext cx="2423160" cy="77724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3" name="Text 20"/>
          <p:cNvSpPr/>
          <p:nvPr/>
        </p:nvSpPr>
        <p:spPr>
          <a:xfrm>
            <a:off x="6446520" y="22128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 mi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44652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Óbitos no período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280160" y="3108960"/>
            <a:ext cx="5029200" cy="306324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6" name="Text 23"/>
          <p:cNvSpPr/>
          <p:nvPr/>
        </p:nvSpPr>
        <p:spPr>
          <a:xfrm>
            <a:off x="141732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MENSAIS POR REGIÃO</a:t>
            </a:r>
            <a:endParaRPr lang="en-US" sz="9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1325880" y="3474720"/>
          <a:ext cx="49377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Shape 24"/>
          <p:cNvSpPr/>
          <p:nvPr/>
        </p:nvSpPr>
        <p:spPr>
          <a:xfrm>
            <a:off x="6446520" y="3108960"/>
            <a:ext cx="2286000" cy="306324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9" name="Text 25"/>
          <p:cNvSpPr/>
          <p:nvPr/>
        </p:nvSpPr>
        <p:spPr>
          <a:xfrm>
            <a:off x="658368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GERAL</a:t>
            </a:r>
            <a:endParaRPr lang="en-US" sz="900" dirty="0"/>
          </a:p>
        </p:txBody>
      </p:sp>
      <p:graphicFrame>
        <p:nvGraphicFramePr>
          <p:cNvPr id="30" name="Chart 1"/>
          <p:cNvGraphicFramePr/>
          <p:nvPr/>
        </p:nvGraphicFramePr>
        <p:xfrm>
          <a:off x="6400800" y="3474720"/>
          <a:ext cx="23774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Shape 26"/>
          <p:cNvSpPr/>
          <p:nvPr/>
        </p:nvSpPr>
        <p:spPr>
          <a:xfrm>
            <a:off x="9006840" y="1600200"/>
            <a:ext cx="2606040" cy="470916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1440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EM ALERTA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91440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Regiões de saúde de SP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9144000" y="2423160"/>
            <a:ext cx="2331720" cy="6858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35" name="Shape 30"/>
          <p:cNvSpPr/>
          <p:nvPr/>
        </p:nvSpPr>
        <p:spPr>
          <a:xfrm>
            <a:off x="9262872" y="2679192"/>
            <a:ext cx="164592" cy="164592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36" name="Text 31"/>
          <p:cNvSpPr/>
          <p:nvPr/>
        </p:nvSpPr>
        <p:spPr>
          <a:xfrm>
            <a:off x="9464040" y="2468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9738360" y="2423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José do Rio Preto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9738360" y="27889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94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109960" y="242316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5"/>
          <p:cNvSpPr/>
          <p:nvPr/>
        </p:nvSpPr>
        <p:spPr>
          <a:xfrm>
            <a:off x="9144000" y="3172968"/>
            <a:ext cx="2331720" cy="6858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41" name="Shape 36"/>
          <p:cNvSpPr/>
          <p:nvPr/>
        </p:nvSpPr>
        <p:spPr>
          <a:xfrm>
            <a:off x="9262872" y="3429000"/>
            <a:ext cx="164592" cy="164592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42" name="Text 37"/>
          <p:cNvSpPr/>
          <p:nvPr/>
        </p:nvSpPr>
        <p:spPr>
          <a:xfrm>
            <a:off x="9464040" y="3218688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9738360" y="31729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Marília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9738360" y="35387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91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11109960" y="3172968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1"/>
          <p:cNvSpPr/>
          <p:nvPr/>
        </p:nvSpPr>
        <p:spPr>
          <a:xfrm>
            <a:off x="9144000" y="3922776"/>
            <a:ext cx="2331720" cy="6858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47" name="Shape 42"/>
          <p:cNvSpPr/>
          <p:nvPr/>
        </p:nvSpPr>
        <p:spPr>
          <a:xfrm>
            <a:off x="9262872" y="4178808"/>
            <a:ext cx="164592" cy="164592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48" name="Text 43"/>
          <p:cNvSpPr/>
          <p:nvPr/>
        </p:nvSpPr>
        <p:spPr>
          <a:xfrm>
            <a:off x="9464040" y="3968496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9" name="Text 44"/>
          <p:cNvSpPr/>
          <p:nvPr/>
        </p:nvSpPr>
        <p:spPr>
          <a:xfrm>
            <a:off x="9738360" y="392277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Presidente Prudente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9738360" y="42885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88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1109960" y="3922776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47"/>
          <p:cNvSpPr/>
          <p:nvPr/>
        </p:nvSpPr>
        <p:spPr>
          <a:xfrm>
            <a:off x="9144000" y="4672584"/>
            <a:ext cx="2331720" cy="6858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3" name="Shape 48"/>
          <p:cNvSpPr/>
          <p:nvPr/>
        </p:nvSpPr>
        <p:spPr>
          <a:xfrm>
            <a:off x="9262872" y="4928616"/>
            <a:ext cx="164592" cy="164592"/>
          </a:xfrm>
          <a:prstGeom prst="ellipse">
            <a:avLst/>
          </a:prstGeom>
          <a:solidFill>
            <a:srgbClr val="F4A937"/>
          </a:solidFill>
          <a:ln/>
        </p:spPr>
      </p:sp>
      <p:sp>
        <p:nvSpPr>
          <p:cNvPr id="54" name="Text 49"/>
          <p:cNvSpPr/>
          <p:nvPr/>
        </p:nvSpPr>
        <p:spPr>
          <a:xfrm>
            <a:off x="9464040" y="4718304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5" name="Text 50"/>
          <p:cNvSpPr/>
          <p:nvPr/>
        </p:nvSpPr>
        <p:spPr>
          <a:xfrm>
            <a:off x="9738360" y="46725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Sorocaba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9738360" y="50383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83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11109960" y="4672584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Shape 53"/>
          <p:cNvSpPr/>
          <p:nvPr/>
        </p:nvSpPr>
        <p:spPr>
          <a:xfrm>
            <a:off x="9144000" y="5422392"/>
            <a:ext cx="2331720" cy="6858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9" name="Shape 54"/>
          <p:cNvSpPr/>
          <p:nvPr/>
        </p:nvSpPr>
        <p:spPr>
          <a:xfrm>
            <a:off x="9262872" y="5678424"/>
            <a:ext cx="164592" cy="164592"/>
          </a:xfrm>
          <a:prstGeom prst="ellipse">
            <a:avLst/>
          </a:prstGeom>
          <a:solidFill>
            <a:srgbClr val="F4A937"/>
          </a:solidFill>
          <a:ln/>
        </p:spPr>
      </p:sp>
      <p:sp>
        <p:nvSpPr>
          <p:cNvPr id="60" name="Text 55"/>
          <p:cNvSpPr/>
          <p:nvPr/>
        </p:nvSpPr>
        <p:spPr>
          <a:xfrm>
            <a:off x="9464040" y="5468112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1" name="Text 56"/>
          <p:cNvSpPr/>
          <p:nvPr/>
        </p:nvSpPr>
        <p:spPr>
          <a:xfrm>
            <a:off x="9738360" y="54223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Bauru</a:t>
            </a:r>
            <a:endParaRPr lang="en-US" sz="1000" dirty="0"/>
          </a:p>
        </p:txBody>
      </p:sp>
      <p:sp>
        <p:nvSpPr>
          <p:cNvPr id="62" name="Text 57"/>
          <p:cNvSpPr/>
          <p:nvPr/>
        </p:nvSpPr>
        <p:spPr>
          <a:xfrm>
            <a:off x="9738360" y="57881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79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11109960" y="5422392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4" name="Text 59"/>
          <p:cNvSpPr/>
          <p:nvPr/>
        </p:nvSpPr>
        <p:spPr>
          <a:xfrm>
            <a:off x="1097280" y="65379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  ·  1TSCOA 2026  ·  Challenge Oracle + FIAP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da solução · Select AI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9ª entrega · A cereja do bolo — perguntas em linguagem natural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600200"/>
            <a:ext cx="6675120" cy="475488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7373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AO SUS RADAR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2194560"/>
            <a:ext cx="4846320" cy="5943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4" name="Text 12"/>
          <p:cNvSpPr/>
          <p:nvPr/>
        </p:nvSpPr>
        <p:spPr>
          <a:xfrm>
            <a:off x="2880360" y="21945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regiões de SP estão em alerta vermelho neste mês?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gerado pelo Select AI: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80160" y="3200400"/>
            <a:ext cx="6309360" cy="594360"/>
          </a:xfrm>
          <a:prstGeom prst="rect">
            <a:avLst/>
          </a:prstGeom>
          <a:solidFill>
            <a:srgbClr val="1A1A24"/>
          </a:solidFill>
          <a:ln w="6350">
            <a:solidFill>
              <a:srgbClr val="E91E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32004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regiao_saude, ipa, semaforo FROM VW_IPA_REGIAO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A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semaforo = 'VERMELHO' ORDER BY ipa DESC;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3931920"/>
            <a:ext cx="6309360" cy="22860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3977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Encontrei 9 regiões em vermelho. As 5 mais críticas: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17320" y="4608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José do Rio Preto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4608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6085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4919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Marília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4919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4919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17320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Presidente Prudente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5230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5230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17320" y="5541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Araçatuba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5541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5541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1732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Barretos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5852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60720" y="5852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09560" y="1600200"/>
            <a:ext cx="3703320" cy="475488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O GESTOR PODE FAZER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92440" y="2240280"/>
            <a:ext cx="3383280" cy="713232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41" name="Shape 39"/>
          <p:cNvSpPr/>
          <p:nvPr/>
        </p:nvSpPr>
        <p:spPr>
          <a:xfrm>
            <a:off x="8092440" y="2240280"/>
            <a:ext cx="54864" cy="7132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22402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municípios tiveram maior aumento de internações no último trimestre?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92440" y="3044952"/>
            <a:ext cx="3383280" cy="713232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44" name="Shape 42"/>
          <p:cNvSpPr/>
          <p:nvPr/>
        </p:nvSpPr>
        <p:spPr>
          <a:xfrm>
            <a:off x="8092440" y="3044952"/>
            <a:ext cx="54864" cy="7132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0" y="304495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hospitais têm permanência média acima da média estadual?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92440" y="3849624"/>
            <a:ext cx="3383280" cy="713232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47" name="Shape 45"/>
          <p:cNvSpPr/>
          <p:nvPr/>
        </p:nvSpPr>
        <p:spPr>
          <a:xfrm>
            <a:off x="8092440" y="3849624"/>
            <a:ext cx="54864" cy="7132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0" y="384962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internações e leitos disponíveis por região de saúde.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092440" y="4654296"/>
            <a:ext cx="3383280" cy="713232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0" name="Shape 48"/>
          <p:cNvSpPr/>
          <p:nvPr/>
        </p:nvSpPr>
        <p:spPr>
          <a:xfrm>
            <a:off x="8092440" y="4654296"/>
            <a:ext cx="54864" cy="7132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465429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pressão por internações respiratórias está crescendo mais rápido?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092440" y="5458968"/>
            <a:ext cx="3383280" cy="713232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53" name="Shape 51"/>
          <p:cNvSpPr/>
          <p:nvPr/>
        </p:nvSpPr>
        <p:spPr>
          <a:xfrm>
            <a:off x="8092440" y="5458968"/>
            <a:ext cx="54864" cy="7132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54" name="Text 52"/>
          <p:cNvSpPr/>
          <p:nvPr/>
        </p:nvSpPr>
        <p:spPr>
          <a:xfrm>
            <a:off x="8229600" y="545896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regiões pioraram entre o último semestre e o atual?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97280" y="65379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  ·  1TSCOA 2026  ·  Challenge Oracle + FIAP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FC4F8-6226-A60F-3524-E5EAD9CD2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190D65-558E-141F-F5D9-1A0145B952CD}"/>
              </a:ext>
            </a:extLst>
          </p:cNvPr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E505D66-2464-9F4E-8D00-83B3FAFDB240}"/>
              </a:ext>
            </a:extLst>
          </p:cNvPr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4835BB2-3A55-351B-3D5B-CFBA0200FCAD}"/>
              </a:ext>
            </a:extLst>
          </p:cNvPr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3B5B89-BEB4-3D00-1C1C-7C3B95EDA617}"/>
              </a:ext>
            </a:extLst>
          </p:cNvPr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29E6C39-4BB8-7074-3C25-2786AAC6E119}"/>
              </a:ext>
            </a:extLst>
          </p:cNvPr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675EE7B-C25D-5A7A-6CCB-704D6721259F}"/>
              </a:ext>
            </a:extLst>
          </p:cNvPr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8708F6-9662-0808-A5DE-4516A14B2FF6}"/>
              </a:ext>
            </a:extLst>
          </p:cNvPr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da solução · Dashboard principal</a:t>
            </a:r>
            <a:endParaRPr lang="en-US" sz="2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67A5B9A-6536-E4C4-093E-33610EAA0B47}"/>
              </a:ext>
            </a:extLst>
          </p:cNvPr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9345668-2FC5-0F25-322B-F7E1C071BCC1}"/>
              </a:ext>
            </a:extLst>
          </p:cNvPr>
          <p:cNvSpPr/>
          <p:nvPr/>
        </p:nvSpPr>
        <p:spPr>
          <a:xfrm>
            <a:off x="109728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9ª </a:t>
            </a:r>
            <a:r>
              <a:rPr lang="en-US" sz="1100" i="1" dirty="0" err="1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entrega</a:t>
            </a:r>
            <a:r>
              <a:rPr lang="en-US" sz="1100" i="1" dirty="0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 · </a:t>
            </a:r>
            <a:r>
              <a:rPr lang="en-US" sz="1100" i="1" dirty="0" err="1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Protótipo</a:t>
            </a:r>
            <a:r>
              <a:rPr lang="en-US" sz="1100" i="1" dirty="0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100" i="1" dirty="0" err="1">
                <a:solidFill>
                  <a:srgbClr val="8B8B95"/>
                </a:solidFill>
                <a:latin typeface="Calibri"/>
                <a:ea typeface="Calibri"/>
                <a:cs typeface="Calibri"/>
              </a:rPr>
              <a:t>telas</a:t>
            </a:r>
            <a:endParaRPr lang="en-US" sz="1100" i="1" dirty="0" err="1">
              <a:solidFill>
                <a:srgbClr val="8B8B95"/>
              </a:solidFill>
              <a:ea typeface="Calibri"/>
              <a:cs typeface="Calibri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4D705CF-B49B-4419-B95D-5B5E570B0EDF}"/>
              </a:ext>
            </a:extLst>
          </p:cNvPr>
          <p:cNvSpPr/>
          <p:nvPr/>
        </p:nvSpPr>
        <p:spPr>
          <a:xfrm>
            <a:off x="1097280" y="1600200"/>
            <a:ext cx="9999785" cy="470916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4933B7-8632-A4CA-A228-DF35723E2A1F}"/>
              </a:ext>
            </a:extLst>
          </p:cNvPr>
          <p:cNvSpPr/>
          <p:nvPr/>
        </p:nvSpPr>
        <p:spPr>
          <a:xfrm>
            <a:off x="1097280" y="1629507"/>
            <a:ext cx="9990015" cy="408355"/>
          </a:xfrm>
          <a:prstGeom prst="rect">
            <a:avLst/>
          </a:prstGeom>
          <a:solidFill>
            <a:srgbClr val="1A1A24"/>
          </a:solidFill>
          <a:ln/>
        </p:spPr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80069810-2D5B-50C7-184D-B4FB417BD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91640"/>
            <a:ext cx="274320" cy="274320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BF6407FA-A870-2BFE-3B7E-977735EE0A08}"/>
              </a:ext>
            </a:extLst>
          </p:cNvPr>
          <p:cNvSpPr/>
          <p:nvPr/>
        </p:nvSpPr>
        <p:spPr>
          <a:xfrm>
            <a:off x="1554480" y="1627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Radar 360</a:t>
            </a:r>
            <a:endParaRPr lang="en-US" sz="1300" dirty="0"/>
          </a:p>
        </p:txBody>
      </p:sp>
      <p:sp>
        <p:nvSpPr>
          <p:cNvPr id="64" name="Text 59">
            <a:extLst>
              <a:ext uri="{FF2B5EF4-FFF2-40B4-BE49-F238E27FC236}">
                <a16:creationId xmlns:a16="http://schemas.microsoft.com/office/drawing/2014/main" id="{47BADEFF-B88B-463B-DEC9-1E749DC37665}"/>
              </a:ext>
            </a:extLst>
          </p:cNvPr>
          <p:cNvSpPr/>
          <p:nvPr/>
        </p:nvSpPr>
        <p:spPr>
          <a:xfrm>
            <a:off x="1097280" y="65379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GreatMinds  ·  1TSCOA 2026  ·  Challenge Oracle + FIAP</a:t>
            </a:r>
            <a:endParaRPr lang="en-US" sz="80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33D4B3EE-177C-B098-FDB8-4B86B755C2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8"/>
          <a:stretch>
            <a:fillRect/>
          </a:stretch>
        </p:blipFill>
        <p:spPr>
          <a:xfrm>
            <a:off x="1097940" y="2034931"/>
            <a:ext cx="5248249" cy="298352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22C5E6AF-F0B5-172E-D5FC-B7B1BDCBC2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219"/>
          <a:stretch>
            <a:fillRect/>
          </a:stretch>
        </p:blipFill>
        <p:spPr>
          <a:xfrm>
            <a:off x="5786926" y="3329476"/>
            <a:ext cx="5307384" cy="298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45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Projetos · Kanban no Notion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1155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10ª entrega · Visão macro · Board do grupo organizado por sprints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554480"/>
            <a:ext cx="10515600" cy="5074920"/>
          </a:xfrm>
          <a:prstGeom prst="rect">
            <a:avLst/>
          </a:prstGeom>
          <a:solidFill>
            <a:srgbClr val="191919"/>
          </a:solidFill>
          <a:ln w="9525">
            <a:solidFill>
              <a:srgbClr val="2A2A2A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91640"/>
            <a:ext cx="164592" cy="1645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81328" y="1673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GreatMinds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337560" y="1673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Radar 360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09160" y="1673352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00600" y="1673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Kanban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28016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Backlog Kanban — SUS Radar 360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229600" y="2075688"/>
            <a:ext cx="1280160" cy="274320"/>
          </a:xfrm>
          <a:prstGeom prst="rect">
            <a:avLst/>
          </a:prstGeom>
          <a:solidFill>
            <a:srgbClr val="1F4D33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0" y="2075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concluída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9555480" y="2075688"/>
            <a:ext cx="1920240" cy="274320"/>
          </a:xfrm>
          <a:prstGeom prst="rect">
            <a:avLst/>
          </a:prstGeom>
          <a:solidFill>
            <a:srgbClr val="1F3A55"/>
          </a:solidFill>
          <a:ln/>
        </p:spPr>
      </p:sp>
      <p:sp>
        <p:nvSpPr>
          <p:cNvPr id="24" name="Text 21"/>
          <p:cNvSpPr/>
          <p:nvPr/>
        </p:nvSpPr>
        <p:spPr>
          <a:xfrm>
            <a:off x="9555480" y="2075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 andamento · 4 a fazer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280160" y="23957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 ·  Por Sprint  ·  Por Integrante  ·  Por Prioridade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686800" y="239572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Agrupado por: Status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280160" y="2697480"/>
            <a:ext cx="3337560" cy="3840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8" name="Shape 25"/>
          <p:cNvSpPr/>
          <p:nvPr/>
        </p:nvSpPr>
        <p:spPr>
          <a:xfrm>
            <a:off x="1417320" y="2862072"/>
            <a:ext cx="137160" cy="1371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9" name="Text 26"/>
          <p:cNvSpPr/>
          <p:nvPr/>
        </p:nvSpPr>
        <p:spPr>
          <a:xfrm>
            <a:off x="1609344" y="27889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206240" y="27889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417320" y="3200400"/>
            <a:ext cx="3063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417320" y="3337560"/>
            <a:ext cx="3063240" cy="749808"/>
          </a:xfrm>
          <a:prstGeom prst="rect">
            <a:avLst/>
          </a:prstGeom>
          <a:solidFill>
            <a:srgbClr val="252525"/>
          </a:solidFill>
          <a:ln w="6350">
            <a:solidFill>
              <a:srgbClr val="30303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527048" y="339242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Ideação e Arquitetura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527048" y="3703320"/>
            <a:ext cx="182880" cy="1828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5" name="Text 32"/>
          <p:cNvSpPr/>
          <p:nvPr/>
        </p:nvSpPr>
        <p:spPr>
          <a:xfrm>
            <a:off x="1527048" y="37033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1764792" y="3703320"/>
            <a:ext cx="731520" cy="182880"/>
          </a:xfrm>
          <a:prstGeom prst="rect">
            <a:avLst/>
          </a:prstGeom>
          <a:solidFill>
            <a:srgbClr val="55204A"/>
          </a:solidFill>
          <a:ln/>
        </p:spPr>
      </p:sp>
      <p:sp>
        <p:nvSpPr>
          <p:cNvPr id="37" name="Text 34"/>
          <p:cNvSpPr/>
          <p:nvPr/>
        </p:nvSpPr>
        <p:spPr>
          <a:xfrm>
            <a:off x="1764792" y="3703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FIAP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527048" y="38862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Time todo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840480" y="38862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16/06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417320" y="4160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Nova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736592" y="2697480"/>
            <a:ext cx="3337560" cy="3840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2" name="Shape 39"/>
          <p:cNvSpPr/>
          <p:nvPr/>
        </p:nvSpPr>
        <p:spPr>
          <a:xfrm>
            <a:off x="4873752" y="2862072"/>
            <a:ext cx="137160" cy="13716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43" name="Text 40"/>
          <p:cNvSpPr/>
          <p:nvPr/>
        </p:nvSpPr>
        <p:spPr>
          <a:xfrm>
            <a:off x="5065776" y="27889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662672" y="27889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873752" y="3200400"/>
            <a:ext cx="3063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873752" y="3337560"/>
            <a:ext cx="3063240" cy="749808"/>
          </a:xfrm>
          <a:prstGeom prst="rect">
            <a:avLst/>
          </a:prstGeom>
          <a:solidFill>
            <a:srgbClr val="252525"/>
          </a:solidFill>
          <a:ln w="6350">
            <a:solidFill>
              <a:srgbClr val="30303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983480" y="339242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Ingestão de Dados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983480" y="3703320"/>
            <a:ext cx="182880" cy="1828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9" name="Text 46"/>
          <p:cNvSpPr/>
          <p:nvPr/>
        </p:nvSpPr>
        <p:spPr>
          <a:xfrm>
            <a:off x="4983480" y="37033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5221224" y="3703320"/>
            <a:ext cx="512064" cy="182880"/>
          </a:xfrm>
          <a:prstGeom prst="rect">
            <a:avLst/>
          </a:prstGeom>
          <a:solidFill>
            <a:srgbClr val="1F4D33"/>
          </a:solidFill>
          <a:ln/>
        </p:spPr>
      </p:sp>
      <p:sp>
        <p:nvSpPr>
          <p:cNvPr id="51" name="Text 48"/>
          <p:cNvSpPr/>
          <p:nvPr/>
        </p:nvSpPr>
        <p:spPr>
          <a:xfrm>
            <a:off x="5221224" y="370332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D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983480" y="38862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Gabriel + Guilherme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296912" y="38862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30/06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873752" y="4160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Nova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193024" y="2697480"/>
            <a:ext cx="3337560" cy="3840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6" name="Shape 53"/>
          <p:cNvSpPr/>
          <p:nvPr/>
        </p:nvSpPr>
        <p:spPr>
          <a:xfrm>
            <a:off x="8330184" y="2862072"/>
            <a:ext cx="137160" cy="137160"/>
          </a:xfrm>
          <a:prstGeom prst="ellipse">
            <a:avLst/>
          </a:prstGeom>
          <a:solidFill>
            <a:srgbClr val="9B9A97"/>
          </a:solidFill>
          <a:ln/>
        </p:spPr>
      </p:sp>
      <p:sp>
        <p:nvSpPr>
          <p:cNvPr id="57" name="Text 54"/>
          <p:cNvSpPr/>
          <p:nvPr/>
        </p:nvSpPr>
        <p:spPr>
          <a:xfrm>
            <a:off x="8522208" y="27889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fazer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11119104" y="27889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8330184" y="3200400"/>
            <a:ext cx="3063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330184" y="3337560"/>
            <a:ext cx="3063240" cy="749808"/>
          </a:xfrm>
          <a:prstGeom prst="rect">
            <a:avLst/>
          </a:prstGeom>
          <a:solidFill>
            <a:srgbClr val="252525"/>
          </a:solidFill>
          <a:ln w="6350">
            <a:solidFill>
              <a:srgbClr val="30303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439912" y="339242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Modelo IPA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8439912" y="3703320"/>
            <a:ext cx="182880" cy="1828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63" name="Text 60"/>
          <p:cNvSpPr/>
          <p:nvPr/>
        </p:nvSpPr>
        <p:spPr>
          <a:xfrm>
            <a:off x="8439912" y="37033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8677656" y="3703320"/>
            <a:ext cx="566928" cy="182880"/>
          </a:xfrm>
          <a:prstGeom prst="rect">
            <a:avLst/>
          </a:prstGeom>
          <a:solidFill>
            <a:srgbClr val="1F3A55"/>
          </a:solidFill>
          <a:ln/>
        </p:spPr>
      </p:sp>
      <p:sp>
        <p:nvSpPr>
          <p:cNvPr id="65" name="Text 62"/>
          <p:cNvSpPr/>
          <p:nvPr/>
        </p:nvSpPr>
        <p:spPr>
          <a:xfrm>
            <a:off x="8677656" y="370332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B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8439912" y="38862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Nathan + Ryan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10753344" y="38862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21/07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8330184" y="4160520"/>
            <a:ext cx="3063240" cy="749808"/>
          </a:xfrm>
          <a:prstGeom prst="rect">
            <a:avLst/>
          </a:prstGeom>
          <a:solidFill>
            <a:srgbClr val="252525"/>
          </a:solidFill>
          <a:ln w="6350">
            <a:solidFill>
              <a:srgbClr val="30303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439912" y="421538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MVP + Select AI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8439912" y="4526280"/>
            <a:ext cx="182880" cy="1828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1" name="Text 68"/>
          <p:cNvSpPr/>
          <p:nvPr/>
        </p:nvSpPr>
        <p:spPr>
          <a:xfrm>
            <a:off x="8439912" y="45262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700" dirty="0"/>
          </a:p>
        </p:txBody>
      </p:sp>
      <p:sp>
        <p:nvSpPr>
          <p:cNvPr id="72" name="Shape 69"/>
          <p:cNvSpPr/>
          <p:nvPr/>
        </p:nvSpPr>
        <p:spPr>
          <a:xfrm>
            <a:off x="8677656" y="4526280"/>
            <a:ext cx="566928" cy="182880"/>
          </a:xfrm>
          <a:prstGeom prst="rect">
            <a:avLst/>
          </a:prstGeom>
          <a:solidFill>
            <a:srgbClr val="55322A"/>
          </a:solidFill>
          <a:ln/>
        </p:spPr>
      </p:sp>
      <p:sp>
        <p:nvSpPr>
          <p:cNvPr id="73" name="Text 70"/>
          <p:cNvSpPr/>
          <p:nvPr/>
        </p:nvSpPr>
        <p:spPr>
          <a:xfrm>
            <a:off x="8677656" y="45262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B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8439912" y="47091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Time todo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10753344" y="47091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18/08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8330184" y="4983480"/>
            <a:ext cx="3063240" cy="749808"/>
          </a:xfrm>
          <a:prstGeom prst="rect">
            <a:avLst/>
          </a:prstGeom>
          <a:solidFill>
            <a:srgbClr val="252525"/>
          </a:solidFill>
          <a:ln w="6350">
            <a:solidFill>
              <a:srgbClr val="30303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439912" y="503834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Pitch e Documentação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8439912" y="5349240"/>
            <a:ext cx="182880" cy="1828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9" name="Text 76"/>
          <p:cNvSpPr/>
          <p:nvPr/>
        </p:nvSpPr>
        <p:spPr>
          <a:xfrm>
            <a:off x="8439912" y="5349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700" dirty="0"/>
          </a:p>
        </p:txBody>
      </p:sp>
      <p:sp>
        <p:nvSpPr>
          <p:cNvPr id="80" name="Shape 77"/>
          <p:cNvSpPr/>
          <p:nvPr/>
        </p:nvSpPr>
        <p:spPr>
          <a:xfrm>
            <a:off x="8677656" y="5349240"/>
            <a:ext cx="347472" cy="182880"/>
          </a:xfrm>
          <a:prstGeom prst="rect">
            <a:avLst/>
          </a:prstGeom>
          <a:solidFill>
            <a:srgbClr val="55204A"/>
          </a:solidFill>
          <a:ln/>
        </p:spPr>
      </p:sp>
      <p:sp>
        <p:nvSpPr>
          <p:cNvPr id="81" name="Text 78"/>
          <p:cNvSpPr/>
          <p:nvPr/>
        </p:nvSpPr>
        <p:spPr>
          <a:xfrm>
            <a:off x="8677656" y="53492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8439912" y="5532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Ana Karen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10753344" y="55321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08/09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8330184" y="5806440"/>
            <a:ext cx="3063240" cy="749808"/>
          </a:xfrm>
          <a:prstGeom prst="rect">
            <a:avLst/>
          </a:prstGeom>
          <a:solidFill>
            <a:srgbClr val="252525"/>
          </a:solidFill>
          <a:ln w="6350">
            <a:solidFill>
              <a:srgbClr val="303030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8439912" y="586130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— Buffer e Entrega Final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8439912" y="6172200"/>
            <a:ext cx="182880" cy="1828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87" name="Text 84"/>
          <p:cNvSpPr/>
          <p:nvPr/>
        </p:nvSpPr>
        <p:spPr>
          <a:xfrm>
            <a:off x="8439912" y="6172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700" dirty="0"/>
          </a:p>
        </p:txBody>
      </p:sp>
      <p:sp>
        <p:nvSpPr>
          <p:cNvPr id="88" name="Shape 85"/>
          <p:cNvSpPr/>
          <p:nvPr/>
        </p:nvSpPr>
        <p:spPr>
          <a:xfrm>
            <a:off x="8677656" y="6172200"/>
            <a:ext cx="731520" cy="182880"/>
          </a:xfrm>
          <a:prstGeom prst="rect">
            <a:avLst/>
          </a:prstGeom>
          <a:solidFill>
            <a:srgbClr val="55204A"/>
          </a:solidFill>
          <a:ln/>
        </p:spPr>
      </p:sp>
      <p:sp>
        <p:nvSpPr>
          <p:cNvPr id="89" name="Text 86"/>
          <p:cNvSpPr/>
          <p:nvPr/>
        </p:nvSpPr>
        <p:spPr>
          <a:xfrm>
            <a:off x="8677656" y="6172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FIAP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8439912" y="63550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Time todo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10753344" y="6355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06/10</a:t>
            </a:r>
            <a:endParaRPr lang="en-US" sz="800" dirty="0"/>
          </a:p>
        </p:txBody>
      </p:sp>
      <p:sp>
        <p:nvSpPr>
          <p:cNvPr id="92" name="Text 89"/>
          <p:cNvSpPr/>
          <p:nvPr/>
        </p:nvSpPr>
        <p:spPr>
          <a:xfrm>
            <a:off x="1097280" y="664456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atual S2 · Próxima entrega 30/06 · Marcos: 16/06 ✅  ·  30/06 🔵  ·  21/07  ·  18/08  ·  08/09  ·  06/10  ·  Cerimônias: Daily 21h · Planning quinzenal · Review com tutor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1188720" cy="1188720"/>
          </a:xfrm>
          <a:prstGeom prst="ellipse">
            <a:avLst/>
          </a:prstGeom>
          <a:solidFill>
            <a:srgbClr val="5C0A1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029200"/>
            <a:ext cx="2377440" cy="2377440"/>
          </a:xfrm>
          <a:prstGeom prst="ellipse">
            <a:avLst/>
          </a:prstGeom>
          <a:solidFill>
            <a:srgbClr val="5C0A1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3474720"/>
            <a:ext cx="822960" cy="822960"/>
          </a:xfrm>
          <a:prstGeom prst="ellipse">
            <a:avLst/>
          </a:prstGeom>
          <a:solidFill>
            <a:srgbClr val="5C0A1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2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Agradecimentos</a:t>
            </a:r>
            <a:endParaRPr lang="en-US" sz="22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97280" y="1033272"/>
            <a:ext cx="10515600" cy="228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1287585"/>
            <a:ext cx="10515600" cy="128016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561905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216444" y="15646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dados públicos do SUS em decisões mais rápidas e justas é um trabalho coletivo.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655394" y="2955778"/>
            <a:ext cx="3337560" cy="306324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55394" y="2955778"/>
            <a:ext cx="3337560" cy="73152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414" y="3321538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38274" y="419021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DO DESAFIO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838274" y="446453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4049854" y="4967458"/>
            <a:ext cx="54864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1" name="Text 17"/>
          <p:cNvSpPr/>
          <p:nvPr/>
        </p:nvSpPr>
        <p:spPr>
          <a:xfrm>
            <a:off x="2929714" y="510461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Pela </a:t>
            </a:r>
            <a:r>
              <a:rPr lang="en-US" sz="105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proposição</a:t>
            </a:r>
            <a:r>
              <a:rPr lang="en-US" sz="10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de um </a:t>
            </a:r>
            <a:r>
              <a:rPr lang="en-US" sz="105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desafio</a:t>
            </a:r>
            <a:r>
              <a:rPr lang="en-US" sz="10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real, </a:t>
            </a:r>
            <a:r>
              <a:rPr lang="en-US" sz="105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conectado</a:t>
            </a:r>
            <a:r>
              <a:rPr lang="en-US" sz="10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ao</a:t>
            </a:r>
            <a:r>
              <a:rPr lang="en-US" sz="10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mercado, e pela </a:t>
            </a:r>
            <a:r>
              <a:rPr lang="en-US" sz="105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plataforma</a:t>
            </a:r>
            <a:r>
              <a:rPr lang="en-US" sz="10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de dados e IA </a:t>
            </a:r>
            <a:r>
              <a:rPr lang="en-US" sz="105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tornou</a:t>
            </a:r>
            <a:r>
              <a:rPr lang="en-US" sz="10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esse </a:t>
            </a:r>
            <a:r>
              <a:rPr lang="en-US" sz="105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projeto</a:t>
            </a:r>
            <a:r>
              <a:rPr lang="en-US" sz="10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viável</a:t>
            </a:r>
            <a:r>
              <a:rPr lang="en-US" sz="1050" dirty="0">
                <a:solidFill>
                  <a:srgbClr val="D8D8DE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Shape 18"/>
          <p:cNvSpPr/>
          <p:nvPr/>
        </p:nvSpPr>
        <p:spPr>
          <a:xfrm>
            <a:off x="6746826" y="2965548"/>
            <a:ext cx="3337560" cy="3063240"/>
          </a:xfrm>
          <a:prstGeom prst="rect">
            <a:avLst/>
          </a:prstGeom>
          <a:solidFill>
            <a:srgbClr val="12121A"/>
          </a:solidFill>
          <a:ln w="9525">
            <a:solidFill>
              <a:srgbClr val="E91E6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46826" y="2965548"/>
            <a:ext cx="3337560" cy="73152"/>
          </a:xfrm>
          <a:prstGeom prst="rect">
            <a:avLst/>
          </a:prstGeom>
          <a:solidFill>
            <a:srgbClr val="E91E63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846" y="3331308"/>
            <a:ext cx="731520" cy="7315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29706" y="41999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 DE ENSINO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929706" y="44743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8141286" y="4977228"/>
            <a:ext cx="548640" cy="2743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8" name="Text 23"/>
          <p:cNvSpPr/>
          <p:nvPr/>
        </p:nvSpPr>
        <p:spPr>
          <a:xfrm>
            <a:off x="7021146" y="511438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estrutura do Challenge como prática extensionista, pela ponte com o mercado e pela oportunidade de aplicar ciência de dados em um problema de impacto social.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1097280" y="6309360"/>
            <a:ext cx="10515600" cy="36576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37" name="Text 31"/>
          <p:cNvSpPr/>
          <p:nvPr/>
        </p:nvSpPr>
        <p:spPr>
          <a:xfrm>
            <a:off x="109728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GreatMinds </a:t>
            </a:r>
            <a:r>
              <a:rPr lang="en-US" sz="10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Ana Karen   ·   Gabriel Arcanjo   ·   Guilherme Talamonti   ·   Nathan Oliveira   ·   Ryan Coutinho   ·  </a:t>
            </a:r>
            <a:r>
              <a:rPr lang="en-US" sz="100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1TSCOA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587DEE977C9143A042F3416864AA9F" ma:contentTypeVersion="14" ma:contentTypeDescription="Crie um novo documento." ma:contentTypeScope="" ma:versionID="b776d5c7476308f23990203070e527c2">
  <xsd:schema xmlns:xsd="http://www.w3.org/2001/XMLSchema" xmlns:xs="http://www.w3.org/2001/XMLSchema" xmlns:p="http://schemas.microsoft.com/office/2006/metadata/properties" xmlns:ns2="34cf085e-19ad-4e7f-97e3-12854e4d6797" xmlns:ns3="00791995-7579-403d-890a-6e3e017e0c43" targetNamespace="http://schemas.microsoft.com/office/2006/metadata/properties" ma:root="true" ma:fieldsID="ccf2e705405bc4c319ffb32212e0e85a" ns2:_="" ns3:_="">
    <xsd:import namespace="34cf085e-19ad-4e7f-97e3-12854e4d6797"/>
    <xsd:import namespace="00791995-7579-403d-890a-6e3e017e0c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cf085e-19ad-4e7f-97e3-12854e4d67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791995-7579-403d-890a-6e3e017e0c4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e2ce42ba-8035-4113-bdb9-87496ce687b4}" ma:internalName="TaxCatchAll" ma:showField="CatchAllData" ma:web="00791995-7579-403d-890a-6e3e017e0c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cf085e-19ad-4e7f-97e3-12854e4d6797">
      <Terms xmlns="http://schemas.microsoft.com/office/infopath/2007/PartnerControls"/>
    </lcf76f155ced4ddcb4097134ff3c332f>
    <TaxCatchAll xmlns="00791995-7579-403d-890a-6e3e017e0c43" xsi:nil="true"/>
  </documentManagement>
</p:properties>
</file>

<file path=customXml/itemProps1.xml><?xml version="1.0" encoding="utf-8"?>
<ds:datastoreItem xmlns:ds="http://schemas.openxmlformats.org/officeDocument/2006/customXml" ds:itemID="{E52015CE-6298-4A28-ACF6-24A50E0EA1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cf085e-19ad-4e7f-97e3-12854e4d6797"/>
    <ds:schemaRef ds:uri="00791995-7579-403d-890a-6e3e017e0c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70728C-C564-4F19-991F-61AEE70E38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FCB130-610E-42D1-96E6-E37A36A00C38}">
  <ds:schemaRefs>
    <ds:schemaRef ds:uri="http://schemas.microsoft.com/office/2006/metadata/properties"/>
    <ds:schemaRef ds:uri="http://schemas.microsoft.com/office/infopath/2007/PartnerControls"/>
    <ds:schemaRef ds:uri="eb947af2-26f0-411d-a536-f4cbb904cdf6"/>
    <ds:schemaRef ds:uri="5b046cae-d1d8-432d-b4bb-58d09b590569"/>
    <ds:schemaRef ds:uri="a6194295-1792-4b63-878c-b29c2ff82726"/>
    <ds:schemaRef ds:uri="49c50ba2-eaf4-4058-b769-73a32109933c"/>
    <ds:schemaRef ds:uri="34cf085e-19ad-4e7f-97e3-12854e4d6797"/>
    <ds:schemaRef ds:uri="00791995-7579-403d-890a-6e3e017e0c4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2629</Words>
  <Application>Microsoft Office PowerPoint</Application>
  <PresentationFormat>Widescreen</PresentationFormat>
  <Paragraphs>139</Paragraphs>
  <Slides>17</Slides>
  <Notes>17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Tema do Office</vt:lpstr>
      <vt:lpstr>1_Tema do Office</vt:lpstr>
      <vt:lpstr>2_Tema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solução</dc:title>
  <dc:creator>Claudio Jose Carvajal</dc:creator>
  <cp:lastModifiedBy>Salvio Padlipskas</cp:lastModifiedBy>
  <cp:revision>199</cp:revision>
  <dcterms:created xsi:type="dcterms:W3CDTF">2016-03-03T21:44:23Z</dcterms:created>
  <dcterms:modified xsi:type="dcterms:W3CDTF">2026-08-29T20:47:48Z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0x01010086587DEE977C9143A042F3416864AA9F</vt:lpwstr>
  </property>
  <property fmtid="{D5CDD505-2E9C-101B-9397-08002B2CF9AE}" pid="3" name="MediaServiceImageTags">
    <vt:lpwstr/>
  </property>
  <property fmtid="{D5CDD505-2E9C-101B-9397-08002B2CF9AE}" pid="4" name="Order">
    <vt:r8>148400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